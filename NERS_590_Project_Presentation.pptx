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0" r:id="rId5"/>
    <p:sldId id="263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61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84B"/>
    <a:srgbClr val="FFC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9"/>
    <p:restoredTop sz="94694"/>
  </p:normalViewPr>
  <p:slideViewPr>
    <p:cSldViewPr snapToGrid="0">
      <p:cViewPr varScale="1">
        <p:scale>
          <a:sx n="50" d="100"/>
          <a:sy n="50" d="100"/>
        </p:scale>
        <p:origin x="48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FDDCBA-D17A-4FC7-B2E0-7F6CC655D4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59DA53-75DE-4902-8188-E8592273ADB3}">
      <dgm:prSet phldrT="[Text]" phldr="0"/>
      <dgm:spPr/>
      <dgm:t>
        <a:bodyPr/>
        <a:lstStyle/>
        <a:p>
          <a:r>
            <a:rPr lang="en-US" dirty="0"/>
            <a:t>What is </a:t>
          </a:r>
          <a:r>
            <a:rPr lang="en-US"/>
            <a:t>it?</a:t>
          </a:r>
          <a:endParaRPr lang="en-US" dirty="0"/>
        </a:p>
      </dgm:t>
    </dgm:pt>
    <dgm:pt modelId="{C549E92C-7453-4BB3-AE7E-53D175C7FF33}" type="parTrans" cxnId="{AC209A70-91AB-4F74-9851-4AC21F0FED3A}">
      <dgm:prSet/>
      <dgm:spPr/>
      <dgm:t>
        <a:bodyPr/>
        <a:lstStyle/>
        <a:p>
          <a:endParaRPr lang="en-US"/>
        </a:p>
      </dgm:t>
    </dgm:pt>
    <dgm:pt modelId="{3BAB288C-2929-4951-9F9D-E344A6FDB873}" type="sibTrans" cxnId="{AC209A70-91AB-4F74-9851-4AC21F0FED3A}">
      <dgm:prSet/>
      <dgm:spPr/>
      <dgm:t>
        <a:bodyPr/>
        <a:lstStyle/>
        <a:p>
          <a:endParaRPr lang="en-US"/>
        </a:p>
      </dgm:t>
    </dgm:pt>
    <dgm:pt modelId="{40E393DC-A9FA-4F01-ABE5-E33839380F54}">
      <dgm:prSet phldrT="[Text]" phldr="0"/>
      <dgm:spPr/>
      <dgm:t>
        <a:bodyPr/>
        <a:lstStyle/>
        <a:p>
          <a:r>
            <a:rPr lang="en-US" dirty="0"/>
            <a:t>Why it matters</a:t>
          </a:r>
        </a:p>
      </dgm:t>
    </dgm:pt>
    <dgm:pt modelId="{729073F4-E3D4-49BA-9910-22E76D16DA78}" type="parTrans" cxnId="{780F2FFA-C9A3-461B-A934-A82219562457}">
      <dgm:prSet/>
      <dgm:spPr/>
      <dgm:t>
        <a:bodyPr/>
        <a:lstStyle/>
        <a:p>
          <a:endParaRPr lang="en-US"/>
        </a:p>
      </dgm:t>
    </dgm:pt>
    <dgm:pt modelId="{BA753C3F-97EB-42F2-B926-FB6A3713FC51}" type="sibTrans" cxnId="{780F2FFA-C9A3-461B-A934-A82219562457}">
      <dgm:prSet/>
      <dgm:spPr/>
      <dgm:t>
        <a:bodyPr/>
        <a:lstStyle/>
        <a:p>
          <a:endParaRPr lang="en-US"/>
        </a:p>
      </dgm:t>
    </dgm:pt>
    <dgm:pt modelId="{43237AA9-74A1-41A9-B3D9-4E4DD207513B}">
      <dgm:prSet phldrT="[Text]"/>
      <dgm:spPr/>
      <dgm:t>
        <a:bodyPr/>
        <a:lstStyle/>
        <a:p>
          <a:pPr>
            <a:buNone/>
          </a:pPr>
          <a:r>
            <a:rPr lang="en-US" dirty="0"/>
            <a:t>SFRs efficiently fission transuranic (TRU) isotopes from LWR spent fuel, reducing long-term radiotoxicity and heat load of nuclear </a:t>
          </a:r>
          <a:r>
            <a:rPr lang="en-US"/>
            <a:t>waste.</a:t>
          </a:r>
          <a:endParaRPr lang="en-US" dirty="0"/>
        </a:p>
      </dgm:t>
    </dgm:pt>
    <dgm:pt modelId="{8E4E1931-6979-4A24-A296-D6487B35D9F4}" type="parTrans" cxnId="{386A9657-3DA2-41BF-BE90-45DEE4D9393A}">
      <dgm:prSet/>
      <dgm:spPr/>
      <dgm:t>
        <a:bodyPr/>
        <a:lstStyle/>
        <a:p>
          <a:endParaRPr lang="en-US"/>
        </a:p>
      </dgm:t>
    </dgm:pt>
    <dgm:pt modelId="{C17D1C51-08DA-4800-998C-AF9FA5B6E22C}" type="sibTrans" cxnId="{386A9657-3DA2-41BF-BE90-45DEE4D9393A}">
      <dgm:prSet/>
      <dgm:spPr/>
      <dgm:t>
        <a:bodyPr/>
        <a:lstStyle/>
        <a:p>
          <a:endParaRPr lang="en-US"/>
        </a:p>
      </dgm:t>
    </dgm:pt>
    <dgm:pt modelId="{4959F2F5-90FF-4FF8-ADCF-A4F22E687589}">
      <dgm:prSet phldrT="[Text]" phldr="0"/>
      <dgm:spPr/>
      <dgm:t>
        <a:bodyPr/>
        <a:lstStyle/>
        <a:p>
          <a:r>
            <a:rPr lang="en-US" dirty="0"/>
            <a:t>Target Performance</a:t>
          </a:r>
        </a:p>
      </dgm:t>
    </dgm:pt>
    <dgm:pt modelId="{3ED3BD57-AC70-402B-9B78-A02679CFCCAD}" type="parTrans" cxnId="{4AB045E1-8153-4CB5-8BD8-8279CA9B5538}">
      <dgm:prSet/>
      <dgm:spPr/>
      <dgm:t>
        <a:bodyPr/>
        <a:lstStyle/>
        <a:p>
          <a:endParaRPr lang="en-US"/>
        </a:p>
      </dgm:t>
    </dgm:pt>
    <dgm:pt modelId="{3F01BB42-2333-4CBC-A51C-329424FED42B}" type="sibTrans" cxnId="{4AB045E1-8153-4CB5-8BD8-8279CA9B5538}">
      <dgm:prSet/>
      <dgm:spPr/>
      <dgm:t>
        <a:bodyPr/>
        <a:lstStyle/>
        <a:p>
          <a:endParaRPr lang="en-US"/>
        </a:p>
      </dgm:t>
    </dgm:pt>
    <dgm:pt modelId="{A494775C-E395-4C64-833F-180127D278BA}">
      <dgm:prSet phldrT="[Text]"/>
      <dgm:spPr/>
      <dgm:t>
        <a:bodyPr/>
        <a:lstStyle/>
        <a:p>
          <a:pPr>
            <a:buNone/>
          </a:pPr>
          <a:r>
            <a:rPr lang="en-US" dirty="0"/>
            <a:t>Closed fuel cycle with recycled metallic U-TRU-Zr fuel and a target TRU conversion ratio of ~0.7 over a 328.5 EFPD </a:t>
          </a:r>
          <a:r>
            <a:rPr lang="en-US"/>
            <a:t>cycle.</a:t>
          </a:r>
          <a:endParaRPr lang="en-US" dirty="0"/>
        </a:p>
      </dgm:t>
    </dgm:pt>
    <dgm:pt modelId="{A251E30B-3698-4E55-9F21-B8A968A2C19E}" type="parTrans" cxnId="{19B09975-88B1-424B-9F99-594AE96B5DDD}">
      <dgm:prSet/>
      <dgm:spPr/>
      <dgm:t>
        <a:bodyPr/>
        <a:lstStyle/>
        <a:p>
          <a:endParaRPr lang="en-US"/>
        </a:p>
      </dgm:t>
    </dgm:pt>
    <dgm:pt modelId="{50564D8F-7E46-4C31-8373-C5AEEF2DBA61}" type="sibTrans" cxnId="{19B09975-88B1-424B-9F99-594AE96B5DDD}">
      <dgm:prSet/>
      <dgm:spPr/>
      <dgm:t>
        <a:bodyPr/>
        <a:lstStyle/>
        <a:p>
          <a:endParaRPr lang="en-US"/>
        </a:p>
      </dgm:t>
    </dgm:pt>
    <dgm:pt modelId="{84964E9D-B723-42FC-BBD5-1F1C2585EF70}">
      <dgm:prSet phldrT="[Text]" phldr="0"/>
      <dgm:spPr/>
      <dgm:t>
        <a:bodyPr/>
        <a:lstStyle/>
        <a:p>
          <a:pPr>
            <a:buNone/>
          </a:pPr>
          <a:r>
            <a:rPr lang="en-US" dirty="0"/>
            <a:t>1000 </a:t>
          </a:r>
          <a:r>
            <a:rPr lang="en-US" dirty="0" err="1"/>
            <a:t>MWt</a:t>
          </a:r>
          <a:r>
            <a:rPr lang="en-US" dirty="0"/>
            <a:t> pool-type sodium-cooled fast reactor (SFR) developed by Argonne National Laboratory under the GNEP program.</a:t>
          </a:r>
        </a:p>
      </dgm:t>
    </dgm:pt>
    <dgm:pt modelId="{D30D6037-749E-42F2-9959-4D9C08A8FC2E}" type="parTrans" cxnId="{65B9D977-15C1-4BF6-851C-49A8976267BC}">
      <dgm:prSet/>
      <dgm:spPr/>
      <dgm:t>
        <a:bodyPr/>
        <a:lstStyle/>
        <a:p>
          <a:endParaRPr lang="en-US"/>
        </a:p>
      </dgm:t>
    </dgm:pt>
    <dgm:pt modelId="{7B572F6F-8773-4171-8B06-340BDD29B834}" type="sibTrans" cxnId="{65B9D977-15C1-4BF6-851C-49A8976267BC}">
      <dgm:prSet/>
      <dgm:spPr/>
      <dgm:t>
        <a:bodyPr/>
        <a:lstStyle/>
        <a:p>
          <a:endParaRPr lang="en-US"/>
        </a:p>
      </dgm:t>
    </dgm:pt>
    <dgm:pt modelId="{D80F5A46-78EA-4FDE-A192-39011491F78B}" type="pres">
      <dgm:prSet presAssocID="{86FDDCBA-D17A-4FC7-B2E0-7F6CC655D46E}" presName="Name0" presStyleCnt="0">
        <dgm:presLayoutVars>
          <dgm:dir/>
          <dgm:animLvl val="lvl"/>
          <dgm:resizeHandles val="exact"/>
        </dgm:presLayoutVars>
      </dgm:prSet>
      <dgm:spPr/>
    </dgm:pt>
    <dgm:pt modelId="{4C37578F-D0D7-4573-A0BC-24BD5C733A10}" type="pres">
      <dgm:prSet presAssocID="{4A59DA53-75DE-4902-8188-E8592273ADB3}" presName="composite" presStyleCnt="0"/>
      <dgm:spPr/>
    </dgm:pt>
    <dgm:pt modelId="{B74ACF39-86CC-487F-9F44-F90CF0DC226D}" type="pres">
      <dgm:prSet presAssocID="{4A59DA53-75DE-4902-8188-E8592273ADB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5365B18-8A7A-4E33-A419-712AB4BAF255}" type="pres">
      <dgm:prSet presAssocID="{4A59DA53-75DE-4902-8188-E8592273ADB3}" presName="desTx" presStyleLbl="alignAccFollowNode1" presStyleIdx="0" presStyleCnt="3">
        <dgm:presLayoutVars>
          <dgm:bulletEnabled val="1"/>
        </dgm:presLayoutVars>
      </dgm:prSet>
      <dgm:spPr/>
    </dgm:pt>
    <dgm:pt modelId="{4DC94253-0E17-4C8B-A57F-9CA0577CF090}" type="pres">
      <dgm:prSet presAssocID="{3BAB288C-2929-4951-9F9D-E344A6FDB873}" presName="space" presStyleCnt="0"/>
      <dgm:spPr/>
    </dgm:pt>
    <dgm:pt modelId="{EE9F4834-D107-4A48-A16A-FB004811B997}" type="pres">
      <dgm:prSet presAssocID="{40E393DC-A9FA-4F01-ABE5-E33839380F54}" presName="composite" presStyleCnt="0"/>
      <dgm:spPr/>
    </dgm:pt>
    <dgm:pt modelId="{E1C2A5B7-EB62-433F-BACD-E65AC04AA40E}" type="pres">
      <dgm:prSet presAssocID="{40E393DC-A9FA-4F01-ABE5-E33839380F5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E8A7D43-4F1F-455D-8378-A43B2AD993FF}" type="pres">
      <dgm:prSet presAssocID="{40E393DC-A9FA-4F01-ABE5-E33839380F54}" presName="desTx" presStyleLbl="alignAccFollowNode1" presStyleIdx="1" presStyleCnt="3">
        <dgm:presLayoutVars>
          <dgm:bulletEnabled val="1"/>
        </dgm:presLayoutVars>
      </dgm:prSet>
      <dgm:spPr/>
    </dgm:pt>
    <dgm:pt modelId="{49608D08-75A0-4BAA-A44D-98301E66526E}" type="pres">
      <dgm:prSet presAssocID="{BA753C3F-97EB-42F2-B926-FB6A3713FC51}" presName="space" presStyleCnt="0"/>
      <dgm:spPr/>
    </dgm:pt>
    <dgm:pt modelId="{C0FE0703-46E2-4970-9D7D-F2EBF19E427E}" type="pres">
      <dgm:prSet presAssocID="{4959F2F5-90FF-4FF8-ADCF-A4F22E687589}" presName="composite" presStyleCnt="0"/>
      <dgm:spPr/>
    </dgm:pt>
    <dgm:pt modelId="{E02BA941-4E3D-4AC7-A33A-83ED7A548246}" type="pres">
      <dgm:prSet presAssocID="{4959F2F5-90FF-4FF8-ADCF-A4F22E68758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948C635-02C6-4BA6-9D40-254202CA72C5}" type="pres">
      <dgm:prSet presAssocID="{4959F2F5-90FF-4FF8-ADCF-A4F22E68758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1037B16-A861-42D6-AD88-629EC8EB3300}" type="presOf" srcId="{4959F2F5-90FF-4FF8-ADCF-A4F22E687589}" destId="{E02BA941-4E3D-4AC7-A33A-83ED7A548246}" srcOrd="0" destOrd="0" presId="urn:microsoft.com/office/officeart/2005/8/layout/hList1"/>
    <dgm:cxn modelId="{AC209A70-91AB-4F74-9851-4AC21F0FED3A}" srcId="{86FDDCBA-D17A-4FC7-B2E0-7F6CC655D46E}" destId="{4A59DA53-75DE-4902-8188-E8592273ADB3}" srcOrd="0" destOrd="0" parTransId="{C549E92C-7453-4BB3-AE7E-53D175C7FF33}" sibTransId="{3BAB288C-2929-4951-9F9D-E344A6FDB873}"/>
    <dgm:cxn modelId="{19B09975-88B1-424B-9F99-594AE96B5DDD}" srcId="{4959F2F5-90FF-4FF8-ADCF-A4F22E687589}" destId="{A494775C-E395-4C64-833F-180127D278BA}" srcOrd="0" destOrd="0" parTransId="{A251E30B-3698-4E55-9F21-B8A968A2C19E}" sibTransId="{50564D8F-7E46-4C31-8373-C5AEEF2DBA61}"/>
    <dgm:cxn modelId="{386A9657-3DA2-41BF-BE90-45DEE4D9393A}" srcId="{40E393DC-A9FA-4F01-ABE5-E33839380F54}" destId="{43237AA9-74A1-41A9-B3D9-4E4DD207513B}" srcOrd="0" destOrd="0" parTransId="{8E4E1931-6979-4A24-A296-D6487B35D9F4}" sibTransId="{C17D1C51-08DA-4800-998C-AF9FA5B6E22C}"/>
    <dgm:cxn modelId="{65B9D977-15C1-4BF6-851C-49A8976267BC}" srcId="{4A59DA53-75DE-4902-8188-E8592273ADB3}" destId="{84964E9D-B723-42FC-BBD5-1F1C2585EF70}" srcOrd="0" destOrd="0" parTransId="{D30D6037-749E-42F2-9959-4D9C08A8FC2E}" sibTransId="{7B572F6F-8773-4171-8B06-340BDD29B834}"/>
    <dgm:cxn modelId="{ED061B7C-1FE9-4F29-A9BD-0EADBAA4C1B4}" type="presOf" srcId="{43237AA9-74A1-41A9-B3D9-4E4DD207513B}" destId="{FE8A7D43-4F1F-455D-8378-A43B2AD993FF}" srcOrd="0" destOrd="0" presId="urn:microsoft.com/office/officeart/2005/8/layout/hList1"/>
    <dgm:cxn modelId="{9EB9118B-3B69-4DD1-B450-3CB5A85BFB11}" type="presOf" srcId="{86FDDCBA-D17A-4FC7-B2E0-7F6CC655D46E}" destId="{D80F5A46-78EA-4FDE-A192-39011491F78B}" srcOrd="0" destOrd="0" presId="urn:microsoft.com/office/officeart/2005/8/layout/hList1"/>
    <dgm:cxn modelId="{A113B68B-287C-4820-8ACD-FCB9D32B6ADC}" type="presOf" srcId="{4A59DA53-75DE-4902-8188-E8592273ADB3}" destId="{B74ACF39-86CC-487F-9F44-F90CF0DC226D}" srcOrd="0" destOrd="0" presId="urn:microsoft.com/office/officeart/2005/8/layout/hList1"/>
    <dgm:cxn modelId="{56C53AC4-95CF-4DC9-B737-2422D7486D4C}" type="presOf" srcId="{A494775C-E395-4C64-833F-180127D278BA}" destId="{C948C635-02C6-4BA6-9D40-254202CA72C5}" srcOrd="0" destOrd="0" presId="urn:microsoft.com/office/officeart/2005/8/layout/hList1"/>
    <dgm:cxn modelId="{C0F338C8-693A-44BC-8F59-6A7B7C4D4F57}" type="presOf" srcId="{40E393DC-A9FA-4F01-ABE5-E33839380F54}" destId="{E1C2A5B7-EB62-433F-BACD-E65AC04AA40E}" srcOrd="0" destOrd="0" presId="urn:microsoft.com/office/officeart/2005/8/layout/hList1"/>
    <dgm:cxn modelId="{4AB045E1-8153-4CB5-8BD8-8279CA9B5538}" srcId="{86FDDCBA-D17A-4FC7-B2E0-7F6CC655D46E}" destId="{4959F2F5-90FF-4FF8-ADCF-A4F22E687589}" srcOrd="2" destOrd="0" parTransId="{3ED3BD57-AC70-402B-9B78-A02679CFCCAD}" sibTransId="{3F01BB42-2333-4CBC-A51C-329424FED42B}"/>
    <dgm:cxn modelId="{CC5523E4-9BE5-4194-B351-29AD9FE3150C}" type="presOf" srcId="{84964E9D-B723-42FC-BBD5-1F1C2585EF70}" destId="{D5365B18-8A7A-4E33-A419-712AB4BAF255}" srcOrd="0" destOrd="0" presId="urn:microsoft.com/office/officeart/2005/8/layout/hList1"/>
    <dgm:cxn modelId="{780F2FFA-C9A3-461B-A934-A82219562457}" srcId="{86FDDCBA-D17A-4FC7-B2E0-7F6CC655D46E}" destId="{40E393DC-A9FA-4F01-ABE5-E33839380F54}" srcOrd="1" destOrd="0" parTransId="{729073F4-E3D4-49BA-9910-22E76D16DA78}" sibTransId="{BA753C3F-97EB-42F2-B926-FB6A3713FC51}"/>
    <dgm:cxn modelId="{37FBDD58-12DD-4AF5-9C4B-D192A30CBC74}" type="presParOf" srcId="{D80F5A46-78EA-4FDE-A192-39011491F78B}" destId="{4C37578F-D0D7-4573-A0BC-24BD5C733A10}" srcOrd="0" destOrd="0" presId="urn:microsoft.com/office/officeart/2005/8/layout/hList1"/>
    <dgm:cxn modelId="{1EE133EF-37E7-460E-8E10-3A1C0B55275F}" type="presParOf" srcId="{4C37578F-D0D7-4573-A0BC-24BD5C733A10}" destId="{B74ACF39-86CC-487F-9F44-F90CF0DC226D}" srcOrd="0" destOrd="0" presId="urn:microsoft.com/office/officeart/2005/8/layout/hList1"/>
    <dgm:cxn modelId="{69F5AA25-EE8D-4BB4-A3CE-99D841E48A01}" type="presParOf" srcId="{4C37578F-D0D7-4573-A0BC-24BD5C733A10}" destId="{D5365B18-8A7A-4E33-A419-712AB4BAF255}" srcOrd="1" destOrd="0" presId="urn:microsoft.com/office/officeart/2005/8/layout/hList1"/>
    <dgm:cxn modelId="{40DF4E42-2633-4C82-BE95-E89B6D52FEFE}" type="presParOf" srcId="{D80F5A46-78EA-4FDE-A192-39011491F78B}" destId="{4DC94253-0E17-4C8B-A57F-9CA0577CF090}" srcOrd="1" destOrd="0" presId="urn:microsoft.com/office/officeart/2005/8/layout/hList1"/>
    <dgm:cxn modelId="{8A1F8591-4092-44EA-8BCE-C5EC04C7275B}" type="presParOf" srcId="{D80F5A46-78EA-4FDE-A192-39011491F78B}" destId="{EE9F4834-D107-4A48-A16A-FB004811B997}" srcOrd="2" destOrd="0" presId="urn:microsoft.com/office/officeart/2005/8/layout/hList1"/>
    <dgm:cxn modelId="{6C02AF63-F823-4DCF-BD96-67C71823509F}" type="presParOf" srcId="{EE9F4834-D107-4A48-A16A-FB004811B997}" destId="{E1C2A5B7-EB62-433F-BACD-E65AC04AA40E}" srcOrd="0" destOrd="0" presId="urn:microsoft.com/office/officeart/2005/8/layout/hList1"/>
    <dgm:cxn modelId="{A5A30E9C-1D70-4C46-99C3-473D1DE04512}" type="presParOf" srcId="{EE9F4834-D107-4A48-A16A-FB004811B997}" destId="{FE8A7D43-4F1F-455D-8378-A43B2AD993FF}" srcOrd="1" destOrd="0" presId="urn:microsoft.com/office/officeart/2005/8/layout/hList1"/>
    <dgm:cxn modelId="{DE7566AE-641E-462D-889A-C03CB72F2763}" type="presParOf" srcId="{D80F5A46-78EA-4FDE-A192-39011491F78B}" destId="{49608D08-75A0-4BAA-A44D-98301E66526E}" srcOrd="3" destOrd="0" presId="urn:microsoft.com/office/officeart/2005/8/layout/hList1"/>
    <dgm:cxn modelId="{D169F91A-E4E9-45F2-8EB0-11C977CD6538}" type="presParOf" srcId="{D80F5A46-78EA-4FDE-A192-39011491F78B}" destId="{C0FE0703-46E2-4970-9D7D-F2EBF19E427E}" srcOrd="4" destOrd="0" presId="urn:microsoft.com/office/officeart/2005/8/layout/hList1"/>
    <dgm:cxn modelId="{4F7A0426-0198-4EB1-A367-C210BD83BC0F}" type="presParOf" srcId="{C0FE0703-46E2-4970-9D7D-F2EBF19E427E}" destId="{E02BA941-4E3D-4AC7-A33A-83ED7A548246}" srcOrd="0" destOrd="0" presId="urn:microsoft.com/office/officeart/2005/8/layout/hList1"/>
    <dgm:cxn modelId="{07D804B9-5C65-4017-8342-FF4B83AA3620}" type="presParOf" srcId="{C0FE0703-46E2-4970-9D7D-F2EBF19E427E}" destId="{C948C635-02C6-4BA6-9D40-254202CA72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F55A0E-3E44-47D5-85A7-0A03C42D393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437935-C381-43D8-8D1C-F808BCC4E1CB}">
      <dgm:prSet phldrT="[Text]" phldr="0"/>
      <dgm:spPr/>
      <dgm:t>
        <a:bodyPr/>
        <a:lstStyle/>
        <a:p>
          <a:r>
            <a:rPr lang="en-US" dirty="0"/>
            <a:t>Nuclear Data</a:t>
          </a:r>
        </a:p>
      </dgm:t>
    </dgm:pt>
    <dgm:pt modelId="{27BBAA7F-A5B7-463E-9130-5659939A573F}" type="parTrans" cxnId="{AF156722-09C3-413B-BB3F-4E9E687433E5}">
      <dgm:prSet/>
      <dgm:spPr/>
      <dgm:t>
        <a:bodyPr/>
        <a:lstStyle/>
        <a:p>
          <a:endParaRPr lang="en-US"/>
        </a:p>
      </dgm:t>
    </dgm:pt>
    <dgm:pt modelId="{949DFC07-704B-476D-A9DE-B7134E3F52A4}" type="sibTrans" cxnId="{AF156722-09C3-413B-BB3F-4E9E687433E5}">
      <dgm:prSet/>
      <dgm:spPr/>
      <dgm:t>
        <a:bodyPr/>
        <a:lstStyle/>
        <a:p>
          <a:endParaRPr lang="en-US"/>
        </a:p>
      </dgm:t>
    </dgm:pt>
    <dgm:pt modelId="{F7F375D8-30CD-4AD9-8729-A1AE34D3703F}">
      <dgm:prSet phldrT="[Text]"/>
      <dgm:spPr/>
      <dgm:t>
        <a:bodyPr/>
        <a:lstStyle/>
        <a:p>
          <a:pPr>
            <a:buNone/>
          </a:pPr>
          <a:r>
            <a:rPr lang="en-US" dirty="0"/>
            <a:t>ENDF/B-VIII.0 continuous-energy cross sections; </a:t>
          </a:r>
        </a:p>
      </dgm:t>
    </dgm:pt>
    <dgm:pt modelId="{47C02065-2709-4EFF-87B9-C8C7AE04EB39}" type="parTrans" cxnId="{B7E33537-C8D4-4D33-8D9C-5F00DF85B824}">
      <dgm:prSet/>
      <dgm:spPr/>
      <dgm:t>
        <a:bodyPr/>
        <a:lstStyle/>
        <a:p>
          <a:endParaRPr lang="en-US"/>
        </a:p>
      </dgm:t>
    </dgm:pt>
    <dgm:pt modelId="{844522F9-FB1C-403B-847D-342296FA504D}" type="sibTrans" cxnId="{B7E33537-C8D4-4D33-8D9C-5F00DF85B824}">
      <dgm:prSet/>
      <dgm:spPr/>
      <dgm:t>
        <a:bodyPr/>
        <a:lstStyle/>
        <a:p>
          <a:endParaRPr lang="en-US"/>
        </a:p>
      </dgm:t>
    </dgm:pt>
    <dgm:pt modelId="{095C0A56-BFAB-4DDF-8590-AF3431233A3B}">
      <dgm:prSet phldrT="[Text]" phldr="0"/>
      <dgm:spPr/>
      <dgm:t>
        <a:bodyPr/>
        <a:lstStyle/>
        <a:p>
          <a:r>
            <a:rPr lang="en-US" dirty="0"/>
            <a:t>Transport Settings</a:t>
          </a:r>
        </a:p>
      </dgm:t>
    </dgm:pt>
    <dgm:pt modelId="{FCB6536A-7152-4098-A91A-43843B1B5D4E}" type="parTrans" cxnId="{48712298-C4B2-45A2-A379-D7F64256B4A2}">
      <dgm:prSet/>
      <dgm:spPr/>
      <dgm:t>
        <a:bodyPr/>
        <a:lstStyle/>
        <a:p>
          <a:endParaRPr lang="en-US"/>
        </a:p>
      </dgm:t>
    </dgm:pt>
    <dgm:pt modelId="{FCB04652-0D80-423E-8132-39AC56ADB07E}" type="sibTrans" cxnId="{48712298-C4B2-45A2-A379-D7F64256B4A2}">
      <dgm:prSet/>
      <dgm:spPr/>
      <dgm:t>
        <a:bodyPr/>
        <a:lstStyle/>
        <a:p>
          <a:endParaRPr lang="en-US"/>
        </a:p>
      </dgm:t>
    </dgm:pt>
    <dgm:pt modelId="{0B44D784-5B49-4592-8899-D194D18BB77C}">
      <dgm:prSet phldrT="[Text]"/>
      <dgm:spPr/>
      <dgm:t>
        <a:bodyPr/>
        <a:lstStyle/>
        <a:p>
          <a:pPr>
            <a:buNone/>
          </a:pPr>
          <a:r>
            <a:rPr lang="en-US" dirty="0"/>
            <a:t>60 batches (20 inactive), </a:t>
          </a:r>
        </a:p>
      </dgm:t>
    </dgm:pt>
    <dgm:pt modelId="{7F8155F7-0D67-4D32-90D6-ACD381CE68FC}" type="parTrans" cxnId="{DB755D1B-E2AA-43C2-AF40-09A9CD36AB8A}">
      <dgm:prSet/>
      <dgm:spPr/>
      <dgm:t>
        <a:bodyPr/>
        <a:lstStyle/>
        <a:p>
          <a:endParaRPr lang="en-US"/>
        </a:p>
      </dgm:t>
    </dgm:pt>
    <dgm:pt modelId="{E8C79880-53FB-49D7-94DA-1EEBD75E1733}" type="sibTrans" cxnId="{DB755D1B-E2AA-43C2-AF40-09A9CD36AB8A}">
      <dgm:prSet/>
      <dgm:spPr/>
      <dgm:t>
        <a:bodyPr/>
        <a:lstStyle/>
        <a:p>
          <a:endParaRPr lang="en-US"/>
        </a:p>
      </dgm:t>
    </dgm:pt>
    <dgm:pt modelId="{5EE180CD-6F64-4EFB-BE78-17688361F3B3}">
      <dgm:prSet phldrT="[Text]" phldr="0"/>
      <dgm:spPr/>
      <dgm:t>
        <a:bodyPr/>
        <a:lstStyle/>
        <a:p>
          <a:r>
            <a:rPr lang="en-US" dirty="0"/>
            <a:t>Tallies</a:t>
          </a:r>
        </a:p>
      </dgm:t>
    </dgm:pt>
    <dgm:pt modelId="{24C745DA-4EA6-4E15-986E-EF61A27294F9}" type="parTrans" cxnId="{366B4D7D-DAB4-49A9-95E8-C57EB9ED80CD}">
      <dgm:prSet/>
      <dgm:spPr/>
      <dgm:t>
        <a:bodyPr/>
        <a:lstStyle/>
        <a:p>
          <a:endParaRPr lang="en-US"/>
        </a:p>
      </dgm:t>
    </dgm:pt>
    <dgm:pt modelId="{A342FE81-0EF8-46F4-9443-BAAC9435C1BD}" type="sibTrans" cxnId="{366B4D7D-DAB4-49A9-95E8-C57EB9ED80CD}">
      <dgm:prSet/>
      <dgm:spPr/>
      <dgm:t>
        <a:bodyPr/>
        <a:lstStyle/>
        <a:p>
          <a:endParaRPr lang="en-US"/>
        </a:p>
      </dgm:t>
    </dgm:pt>
    <dgm:pt modelId="{36F83EE8-4131-40BA-AF60-9F90E327EE49}">
      <dgm:prSet phldrT="[Text]"/>
      <dgm:spPr/>
      <dgm:t>
        <a:bodyPr/>
        <a:lstStyle/>
        <a:p>
          <a:pPr>
            <a:buNone/>
          </a:pPr>
          <a:r>
            <a:rPr lang="en-US" dirty="0"/>
            <a:t>8 tallies:</a:t>
          </a:r>
        </a:p>
      </dgm:t>
    </dgm:pt>
    <dgm:pt modelId="{6848470D-0525-4FF4-9930-EF6188700A65}" type="parTrans" cxnId="{D239BAC3-0C5D-4805-A30C-367DA0773448}">
      <dgm:prSet/>
      <dgm:spPr/>
      <dgm:t>
        <a:bodyPr/>
        <a:lstStyle/>
        <a:p>
          <a:endParaRPr lang="en-US"/>
        </a:p>
      </dgm:t>
    </dgm:pt>
    <dgm:pt modelId="{DED2FB50-109A-4478-8B68-7DF9547442C5}" type="sibTrans" cxnId="{D239BAC3-0C5D-4805-A30C-367DA0773448}">
      <dgm:prSet/>
      <dgm:spPr/>
      <dgm:t>
        <a:bodyPr/>
        <a:lstStyle/>
        <a:p>
          <a:endParaRPr lang="en-US"/>
        </a:p>
      </dgm:t>
    </dgm:pt>
    <dgm:pt modelId="{B2E2B9BE-F0CC-46A3-9BC1-F263B12AA0E6}">
      <dgm:prSet phldrT="[Text]"/>
      <dgm:spPr/>
      <dgm:t>
        <a:bodyPr/>
        <a:lstStyle/>
        <a:p>
          <a:pPr>
            <a:buNone/>
          </a:pPr>
          <a:r>
            <a:rPr lang="en-US" dirty="0" err="1"/>
            <a:t>T</a:t>
          </a:r>
          <a:r>
            <a:rPr lang="en-US" baseline="-25000" dirty="0" err="1"/>
            <a:t>fuel</a:t>
          </a:r>
          <a:r>
            <a:rPr lang="en-US" dirty="0"/>
            <a:t> = 807 K, </a:t>
          </a:r>
        </a:p>
      </dgm:t>
    </dgm:pt>
    <dgm:pt modelId="{B8B7EC2D-A23F-4067-8583-6341DCD40A69}" type="parTrans" cxnId="{44A61526-5BE8-4771-B801-35C6C4323CDF}">
      <dgm:prSet/>
      <dgm:spPr/>
      <dgm:t>
        <a:bodyPr/>
        <a:lstStyle/>
        <a:p>
          <a:endParaRPr lang="en-US"/>
        </a:p>
      </dgm:t>
    </dgm:pt>
    <dgm:pt modelId="{B7F21BF8-C406-47B3-8222-77C52FD41374}" type="sibTrans" cxnId="{44A61526-5BE8-4771-B801-35C6C4323CDF}">
      <dgm:prSet/>
      <dgm:spPr/>
      <dgm:t>
        <a:bodyPr/>
        <a:lstStyle/>
        <a:p>
          <a:endParaRPr lang="en-US"/>
        </a:p>
      </dgm:t>
    </dgm:pt>
    <dgm:pt modelId="{A29C59CF-8F13-4840-9821-0B7BF78E1E4B}">
      <dgm:prSet phldrT="[Text]"/>
      <dgm:spPr/>
      <dgm:t>
        <a:bodyPr/>
        <a:lstStyle/>
        <a:p>
          <a:pPr>
            <a:buNone/>
          </a:pPr>
          <a:r>
            <a:rPr lang="en-US" dirty="0" err="1"/>
            <a:t>T</a:t>
          </a:r>
          <a:r>
            <a:rPr lang="en-US" baseline="-25000" dirty="0" err="1"/>
            <a:t>cool</a:t>
          </a:r>
          <a:r>
            <a:rPr lang="en-US" baseline="-25000" dirty="0"/>
            <a:t>/struct</a:t>
          </a:r>
          <a:r>
            <a:rPr lang="en-US" dirty="0"/>
            <a:t> = 706 K</a:t>
          </a:r>
        </a:p>
      </dgm:t>
    </dgm:pt>
    <dgm:pt modelId="{1AF29FE9-00A1-4466-853E-AC771D10657C}" type="parTrans" cxnId="{82768F99-7DEE-4B45-860E-C3264B410044}">
      <dgm:prSet/>
      <dgm:spPr/>
      <dgm:t>
        <a:bodyPr/>
        <a:lstStyle/>
        <a:p>
          <a:endParaRPr lang="en-US"/>
        </a:p>
      </dgm:t>
    </dgm:pt>
    <dgm:pt modelId="{36610E97-4974-4E77-BBC2-0E0C8E26A76C}" type="sibTrans" cxnId="{82768F99-7DEE-4B45-860E-C3264B410044}">
      <dgm:prSet/>
      <dgm:spPr/>
      <dgm:t>
        <a:bodyPr/>
        <a:lstStyle/>
        <a:p>
          <a:endParaRPr lang="en-US"/>
        </a:p>
      </dgm:t>
    </dgm:pt>
    <dgm:pt modelId="{19A27A4E-A769-4F32-8C66-7004436D529F}">
      <dgm:prSet/>
      <dgm:spPr/>
      <dgm:t>
        <a:bodyPr/>
        <a:lstStyle/>
        <a:p>
          <a:r>
            <a:rPr lang="en-US" dirty="0"/>
            <a:t>Depletion Scheme</a:t>
          </a:r>
        </a:p>
      </dgm:t>
    </dgm:pt>
    <dgm:pt modelId="{0CDEE231-9813-495F-8B4E-87F88A264FA6}" type="parTrans" cxnId="{E4A4B9C5-BCDB-4A90-9128-F99A38E33A7A}">
      <dgm:prSet/>
      <dgm:spPr/>
      <dgm:t>
        <a:bodyPr/>
        <a:lstStyle/>
        <a:p>
          <a:endParaRPr lang="en-US"/>
        </a:p>
      </dgm:t>
    </dgm:pt>
    <dgm:pt modelId="{3A6454FB-0F2F-406C-A549-734D0F4FEE5E}" type="sibTrans" cxnId="{E4A4B9C5-BCDB-4A90-9128-F99A38E33A7A}">
      <dgm:prSet/>
      <dgm:spPr/>
      <dgm:t>
        <a:bodyPr/>
        <a:lstStyle/>
        <a:p>
          <a:endParaRPr lang="en-US"/>
        </a:p>
      </dgm:t>
    </dgm:pt>
    <dgm:pt modelId="{7C18D3AC-6B37-4B07-A99A-9D214DA0A13C}">
      <dgm:prSet/>
      <dgm:spPr/>
      <dgm:t>
        <a:bodyPr/>
        <a:lstStyle/>
        <a:p>
          <a:pPr>
            <a:buNone/>
          </a:pPr>
          <a:r>
            <a:rPr lang="en-US" dirty="0"/>
            <a:t>CECM predictor-corrector integrator via </a:t>
          </a:r>
          <a:r>
            <a:rPr lang="en-US" dirty="0" err="1"/>
            <a:t>openmc.deplete</a:t>
          </a:r>
          <a:r>
            <a:rPr lang="en-US" dirty="0"/>
            <a:t>; </a:t>
          </a:r>
        </a:p>
      </dgm:t>
    </dgm:pt>
    <dgm:pt modelId="{3019750A-BC89-44B1-82D9-0AC35741DB87}" type="parTrans" cxnId="{FF938793-BB11-4898-B6CD-9D09676C7F3C}">
      <dgm:prSet/>
      <dgm:spPr/>
      <dgm:t>
        <a:bodyPr/>
        <a:lstStyle/>
        <a:p>
          <a:endParaRPr lang="en-US"/>
        </a:p>
      </dgm:t>
    </dgm:pt>
    <dgm:pt modelId="{637DE692-6D4F-473F-BC0F-8D46EC3B5BA8}" type="sibTrans" cxnId="{FF938793-BB11-4898-B6CD-9D09676C7F3C}">
      <dgm:prSet/>
      <dgm:spPr/>
      <dgm:t>
        <a:bodyPr/>
        <a:lstStyle/>
        <a:p>
          <a:endParaRPr lang="en-US"/>
        </a:p>
      </dgm:t>
    </dgm:pt>
    <dgm:pt modelId="{888CFBCB-0DE6-4977-B1BB-2017EEF52D08}">
      <dgm:prSet/>
      <dgm:spPr/>
      <dgm:t>
        <a:bodyPr/>
        <a:lstStyle/>
        <a:p>
          <a:pPr>
            <a:buNone/>
          </a:pPr>
          <a:r>
            <a:rPr lang="en-US" dirty="0"/>
            <a:t>12 geometric timesteps spanning 328.5 EFPD;</a:t>
          </a:r>
        </a:p>
      </dgm:t>
    </dgm:pt>
    <dgm:pt modelId="{150A4D9B-B50E-4291-9BEE-40A9E5DB167E}" type="parTrans" cxnId="{29CC28C3-A13F-4206-B2D0-152CCA7C5F44}">
      <dgm:prSet/>
      <dgm:spPr/>
      <dgm:t>
        <a:bodyPr/>
        <a:lstStyle/>
        <a:p>
          <a:endParaRPr lang="en-US"/>
        </a:p>
      </dgm:t>
    </dgm:pt>
    <dgm:pt modelId="{FAB426BD-815C-41E8-98C6-94A6A92078AE}" type="sibTrans" cxnId="{29CC28C3-A13F-4206-B2D0-152CCA7C5F44}">
      <dgm:prSet/>
      <dgm:spPr/>
      <dgm:t>
        <a:bodyPr/>
        <a:lstStyle/>
        <a:p>
          <a:endParaRPr lang="en-US"/>
        </a:p>
      </dgm:t>
    </dgm:pt>
    <dgm:pt modelId="{14EAE477-5455-4F21-90C0-986E31D90484}">
      <dgm:prSet phldrT="[Text]"/>
      <dgm:spPr/>
      <dgm:t>
        <a:bodyPr/>
        <a:lstStyle/>
        <a:p>
          <a:pPr>
            <a:buNone/>
          </a:pPr>
          <a:r>
            <a:rPr lang="en-US" dirty="0"/>
            <a:t>20,000 particles per batch; </a:t>
          </a:r>
        </a:p>
      </dgm:t>
    </dgm:pt>
    <dgm:pt modelId="{E59520A6-D913-448A-B49E-8E3EDC758F85}" type="parTrans" cxnId="{AF280294-5173-463D-9C72-C8576AED8702}">
      <dgm:prSet/>
      <dgm:spPr/>
      <dgm:t>
        <a:bodyPr/>
        <a:lstStyle/>
        <a:p>
          <a:endParaRPr lang="en-US"/>
        </a:p>
      </dgm:t>
    </dgm:pt>
    <dgm:pt modelId="{25AA3259-897A-4D02-9655-D64522CEB6A6}" type="sibTrans" cxnId="{AF280294-5173-463D-9C72-C8576AED8702}">
      <dgm:prSet/>
      <dgm:spPr/>
      <dgm:t>
        <a:bodyPr/>
        <a:lstStyle/>
        <a:p>
          <a:endParaRPr lang="en-US"/>
        </a:p>
      </dgm:t>
    </dgm:pt>
    <dgm:pt modelId="{40CE9C13-9E53-4CD4-8432-A74190575DFD}">
      <dgm:prSet phldrT="[Text]"/>
      <dgm:spPr/>
      <dgm:t>
        <a:bodyPr/>
        <a:lstStyle/>
        <a:p>
          <a:pPr>
            <a:buNone/>
          </a:pPr>
          <a:r>
            <a:rPr lang="en-US" dirty="0"/>
            <a:t>20×20×20 Shannon entropy mesh for convergence.</a:t>
          </a:r>
        </a:p>
      </dgm:t>
    </dgm:pt>
    <dgm:pt modelId="{E5995780-703B-417E-9A5F-20C483B209C5}" type="parTrans" cxnId="{464F68D3-5388-4642-ABBD-0F0258EDFFF4}">
      <dgm:prSet/>
      <dgm:spPr/>
      <dgm:t>
        <a:bodyPr/>
        <a:lstStyle/>
        <a:p>
          <a:endParaRPr lang="en-US"/>
        </a:p>
      </dgm:t>
    </dgm:pt>
    <dgm:pt modelId="{0EA2E5C9-E0CB-43BA-B5B8-50E58B081AFE}" type="sibTrans" cxnId="{464F68D3-5388-4642-ABBD-0F0258EDFFF4}">
      <dgm:prSet/>
      <dgm:spPr/>
      <dgm:t>
        <a:bodyPr/>
        <a:lstStyle/>
        <a:p>
          <a:endParaRPr lang="en-US"/>
        </a:p>
      </dgm:t>
    </dgm:pt>
    <dgm:pt modelId="{E28C814E-B722-4301-A324-1DFBBC8AB834}">
      <dgm:prSet phldrT="[Text]"/>
      <dgm:spPr/>
      <dgm:t>
        <a:bodyPr/>
        <a:lstStyle/>
        <a:p>
          <a:pPr>
            <a:buNone/>
          </a:pPr>
          <a:r>
            <a:rPr lang="en-US" dirty="0"/>
            <a:t>total/zone power, </a:t>
          </a:r>
        </a:p>
      </dgm:t>
    </dgm:pt>
    <dgm:pt modelId="{8AA6207E-84FE-4446-925C-016305804058}" type="parTrans" cxnId="{FE51EB86-1305-4367-9DDA-A0F3672657E7}">
      <dgm:prSet/>
      <dgm:spPr/>
      <dgm:t>
        <a:bodyPr/>
        <a:lstStyle/>
        <a:p>
          <a:endParaRPr lang="en-US"/>
        </a:p>
      </dgm:t>
    </dgm:pt>
    <dgm:pt modelId="{49EAEA7D-0692-4070-9151-A7ACD35854EB}" type="sibTrans" cxnId="{FE51EB86-1305-4367-9DDA-A0F3672657E7}">
      <dgm:prSet/>
      <dgm:spPr/>
      <dgm:t>
        <a:bodyPr/>
        <a:lstStyle/>
        <a:p>
          <a:endParaRPr lang="en-US"/>
        </a:p>
      </dgm:t>
    </dgm:pt>
    <dgm:pt modelId="{1312ECC1-12FE-4A0C-8759-3FDCA231CF35}">
      <dgm:prSet phldrT="[Text]"/>
      <dgm:spPr/>
      <dgm:t>
        <a:bodyPr/>
        <a:lstStyle/>
        <a:p>
          <a:pPr>
            <a:buNone/>
          </a:pPr>
          <a:r>
            <a:rPr lang="en-US" dirty="0"/>
            <a:t>neutron balance, </a:t>
          </a:r>
        </a:p>
      </dgm:t>
    </dgm:pt>
    <dgm:pt modelId="{4F1EE4E3-2E0B-4AB4-B0DF-53F1E9FC349A}" type="parTrans" cxnId="{7366295C-8A84-417E-8830-5F1808BF3EB5}">
      <dgm:prSet/>
      <dgm:spPr/>
      <dgm:t>
        <a:bodyPr/>
        <a:lstStyle/>
        <a:p>
          <a:endParaRPr lang="en-US"/>
        </a:p>
      </dgm:t>
    </dgm:pt>
    <dgm:pt modelId="{AA89BCF3-A33D-4353-BF54-A80E42395F01}" type="sibTrans" cxnId="{7366295C-8A84-417E-8830-5F1808BF3EB5}">
      <dgm:prSet/>
      <dgm:spPr/>
      <dgm:t>
        <a:bodyPr/>
        <a:lstStyle/>
        <a:p>
          <a:endParaRPr lang="en-US"/>
        </a:p>
      </dgm:t>
    </dgm:pt>
    <dgm:pt modelId="{1F1C36B8-A431-4759-8A00-B28F2B630F72}">
      <dgm:prSet phldrT="[Text]"/>
      <dgm:spPr/>
      <dgm:t>
        <a:bodyPr/>
        <a:lstStyle/>
        <a:p>
          <a:pPr>
            <a:buNone/>
          </a:pPr>
          <a:r>
            <a:rPr lang="en-US" dirty="0"/>
            <a:t>system leakage, </a:t>
          </a:r>
        </a:p>
      </dgm:t>
    </dgm:pt>
    <dgm:pt modelId="{C081312D-5017-4E88-8BD3-739BA1D31E9F}" type="parTrans" cxnId="{45F316C1-61CA-4FF0-895D-0066CAC1FD7B}">
      <dgm:prSet/>
      <dgm:spPr/>
      <dgm:t>
        <a:bodyPr/>
        <a:lstStyle/>
        <a:p>
          <a:endParaRPr lang="en-US"/>
        </a:p>
      </dgm:t>
    </dgm:pt>
    <dgm:pt modelId="{8B409743-DC43-4998-82E3-68AC955F0300}" type="sibTrans" cxnId="{45F316C1-61CA-4FF0-895D-0066CAC1FD7B}">
      <dgm:prSet/>
      <dgm:spPr/>
      <dgm:t>
        <a:bodyPr/>
        <a:lstStyle/>
        <a:p>
          <a:endParaRPr lang="en-US"/>
        </a:p>
      </dgm:t>
    </dgm:pt>
    <dgm:pt modelId="{87134CBF-52F6-47E5-BD3F-8B595AD975E1}">
      <dgm:prSet phldrT="[Text]"/>
      <dgm:spPr/>
      <dgm:t>
        <a:bodyPr/>
        <a:lstStyle/>
        <a:p>
          <a:pPr>
            <a:buNone/>
          </a:pPr>
          <a:r>
            <a:rPr lang="en-US" dirty="0"/>
            <a:t>and 33-group spectral flux.</a:t>
          </a:r>
        </a:p>
      </dgm:t>
    </dgm:pt>
    <dgm:pt modelId="{44E6DC05-A124-4B12-AE47-949F0332261F}" type="parTrans" cxnId="{C92C5E91-050F-4875-85E0-E0E73160AB77}">
      <dgm:prSet/>
      <dgm:spPr/>
      <dgm:t>
        <a:bodyPr/>
        <a:lstStyle/>
        <a:p>
          <a:endParaRPr lang="en-US"/>
        </a:p>
      </dgm:t>
    </dgm:pt>
    <dgm:pt modelId="{42CEAA3A-32BB-4EDD-BEC0-3FCB8726F771}" type="sibTrans" cxnId="{C92C5E91-050F-4875-85E0-E0E73160AB77}">
      <dgm:prSet/>
      <dgm:spPr/>
      <dgm:t>
        <a:bodyPr/>
        <a:lstStyle/>
        <a:p>
          <a:endParaRPr lang="en-US"/>
        </a:p>
      </dgm:t>
    </dgm:pt>
    <dgm:pt modelId="{8F384E57-697A-4A25-B54A-C403E0BE8F06}">
      <dgm:prSet/>
      <dgm:spPr/>
      <dgm:t>
        <a:bodyPr/>
        <a:lstStyle/>
        <a:p>
          <a:pPr>
            <a:buNone/>
          </a:pPr>
          <a:r>
            <a:rPr lang="en-US" dirty="0"/>
            <a:t> SFR transmutation chain.</a:t>
          </a:r>
        </a:p>
      </dgm:t>
    </dgm:pt>
    <dgm:pt modelId="{6C0D433F-8430-499D-97C4-2A26464C533D}" type="parTrans" cxnId="{21232374-74A5-4E6A-94D5-98AF192B45D9}">
      <dgm:prSet/>
      <dgm:spPr/>
      <dgm:t>
        <a:bodyPr/>
        <a:lstStyle/>
        <a:p>
          <a:endParaRPr lang="en-US"/>
        </a:p>
      </dgm:t>
    </dgm:pt>
    <dgm:pt modelId="{D675E3E6-75D0-4FC6-A9CA-88E8EBBC2F6E}" type="sibTrans" cxnId="{21232374-74A5-4E6A-94D5-98AF192B45D9}">
      <dgm:prSet/>
      <dgm:spPr/>
      <dgm:t>
        <a:bodyPr/>
        <a:lstStyle/>
        <a:p>
          <a:endParaRPr lang="en-US"/>
        </a:p>
      </dgm:t>
    </dgm:pt>
    <dgm:pt modelId="{3DAC8A60-4555-476A-86F9-7B8321C1974B}" type="pres">
      <dgm:prSet presAssocID="{C6F55A0E-3E44-47D5-85A7-0A03C42D3939}" presName="Name0" presStyleCnt="0">
        <dgm:presLayoutVars>
          <dgm:dir/>
          <dgm:animLvl val="lvl"/>
          <dgm:resizeHandles val="exact"/>
        </dgm:presLayoutVars>
      </dgm:prSet>
      <dgm:spPr/>
    </dgm:pt>
    <dgm:pt modelId="{9078F3B4-7259-4D62-B61F-3BD9EC0157F2}" type="pres">
      <dgm:prSet presAssocID="{9F437935-C381-43D8-8D1C-F808BCC4E1CB}" presName="composite" presStyleCnt="0"/>
      <dgm:spPr/>
    </dgm:pt>
    <dgm:pt modelId="{1E162603-9E15-4E5A-80F8-76B7E8A48FDC}" type="pres">
      <dgm:prSet presAssocID="{9F437935-C381-43D8-8D1C-F808BCC4E1C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F0EB6E9-BCA5-46D6-9FFE-1C3AF5BC8CAF}" type="pres">
      <dgm:prSet presAssocID="{9F437935-C381-43D8-8D1C-F808BCC4E1CB}" presName="desTx" presStyleLbl="alignAccFollowNode1" presStyleIdx="0" presStyleCnt="4">
        <dgm:presLayoutVars>
          <dgm:bulletEnabled val="1"/>
        </dgm:presLayoutVars>
      </dgm:prSet>
      <dgm:spPr/>
    </dgm:pt>
    <dgm:pt modelId="{0C584CFE-642D-4DDC-A583-0600A4AB39CF}" type="pres">
      <dgm:prSet presAssocID="{949DFC07-704B-476D-A9DE-B7134E3F52A4}" presName="space" presStyleCnt="0"/>
      <dgm:spPr/>
    </dgm:pt>
    <dgm:pt modelId="{BB45E609-D1F7-4F15-839B-3D5FC23CB3DD}" type="pres">
      <dgm:prSet presAssocID="{19A27A4E-A769-4F32-8C66-7004436D529F}" presName="composite" presStyleCnt="0"/>
      <dgm:spPr/>
    </dgm:pt>
    <dgm:pt modelId="{DDE6876D-53B0-4B81-9A79-85EA02365997}" type="pres">
      <dgm:prSet presAssocID="{19A27A4E-A769-4F32-8C66-7004436D529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DEB8DDE-6B58-43F0-8061-18AF55EBDAB1}" type="pres">
      <dgm:prSet presAssocID="{19A27A4E-A769-4F32-8C66-7004436D529F}" presName="desTx" presStyleLbl="alignAccFollowNode1" presStyleIdx="1" presStyleCnt="4">
        <dgm:presLayoutVars>
          <dgm:bulletEnabled val="1"/>
        </dgm:presLayoutVars>
      </dgm:prSet>
      <dgm:spPr/>
    </dgm:pt>
    <dgm:pt modelId="{8E724708-F3E0-4B80-A8E2-D184D9C9495E}" type="pres">
      <dgm:prSet presAssocID="{3A6454FB-0F2F-406C-A549-734D0F4FEE5E}" presName="space" presStyleCnt="0"/>
      <dgm:spPr/>
    </dgm:pt>
    <dgm:pt modelId="{26A5EF9B-BEEF-4DFE-A4D9-2B2C3D1FC70C}" type="pres">
      <dgm:prSet presAssocID="{095C0A56-BFAB-4DDF-8590-AF3431233A3B}" presName="composite" presStyleCnt="0"/>
      <dgm:spPr/>
    </dgm:pt>
    <dgm:pt modelId="{8667E346-49E9-4B73-AFEC-DA1F6FF839F8}" type="pres">
      <dgm:prSet presAssocID="{095C0A56-BFAB-4DDF-8590-AF3431233A3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4029EAC-2CF7-4DBD-ACB5-96D5D3F75935}" type="pres">
      <dgm:prSet presAssocID="{095C0A56-BFAB-4DDF-8590-AF3431233A3B}" presName="desTx" presStyleLbl="alignAccFollowNode1" presStyleIdx="2" presStyleCnt="4">
        <dgm:presLayoutVars>
          <dgm:bulletEnabled val="1"/>
        </dgm:presLayoutVars>
      </dgm:prSet>
      <dgm:spPr/>
    </dgm:pt>
    <dgm:pt modelId="{80A96FDA-02BB-414D-93A1-15B4547DE33A}" type="pres">
      <dgm:prSet presAssocID="{FCB04652-0D80-423E-8132-39AC56ADB07E}" presName="space" presStyleCnt="0"/>
      <dgm:spPr/>
    </dgm:pt>
    <dgm:pt modelId="{EAC31691-FF8A-43C6-9D0E-A251CC581300}" type="pres">
      <dgm:prSet presAssocID="{5EE180CD-6F64-4EFB-BE78-17688361F3B3}" presName="composite" presStyleCnt="0"/>
      <dgm:spPr/>
    </dgm:pt>
    <dgm:pt modelId="{7BBF78E4-85B2-4813-884C-9D26DB8CAC9C}" type="pres">
      <dgm:prSet presAssocID="{5EE180CD-6F64-4EFB-BE78-17688361F3B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4DA3B588-1CDF-49BF-98BE-562D3E10890C}" type="pres">
      <dgm:prSet presAssocID="{5EE180CD-6F64-4EFB-BE78-17688361F3B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B5B120C-26A9-4D00-B5E3-B2F0C1E59289}" type="presOf" srcId="{0B44D784-5B49-4592-8899-D194D18BB77C}" destId="{24029EAC-2CF7-4DBD-ACB5-96D5D3F75935}" srcOrd="0" destOrd="0" presId="urn:microsoft.com/office/officeart/2005/8/layout/hList1"/>
    <dgm:cxn modelId="{A015371B-5295-4645-8F80-B371551DF388}" type="presOf" srcId="{095C0A56-BFAB-4DDF-8590-AF3431233A3B}" destId="{8667E346-49E9-4B73-AFEC-DA1F6FF839F8}" srcOrd="0" destOrd="0" presId="urn:microsoft.com/office/officeart/2005/8/layout/hList1"/>
    <dgm:cxn modelId="{DB755D1B-E2AA-43C2-AF40-09A9CD36AB8A}" srcId="{095C0A56-BFAB-4DDF-8590-AF3431233A3B}" destId="{0B44D784-5B49-4592-8899-D194D18BB77C}" srcOrd="0" destOrd="0" parTransId="{7F8155F7-0D67-4D32-90D6-ACD381CE68FC}" sibTransId="{E8C79880-53FB-49D7-94DA-1EEBD75E1733}"/>
    <dgm:cxn modelId="{AF156722-09C3-413B-BB3F-4E9E687433E5}" srcId="{C6F55A0E-3E44-47D5-85A7-0A03C42D3939}" destId="{9F437935-C381-43D8-8D1C-F808BCC4E1CB}" srcOrd="0" destOrd="0" parTransId="{27BBAA7F-A5B7-463E-9130-5659939A573F}" sibTransId="{949DFC07-704B-476D-A9DE-B7134E3F52A4}"/>
    <dgm:cxn modelId="{44A61526-5BE8-4771-B801-35C6C4323CDF}" srcId="{9F437935-C381-43D8-8D1C-F808BCC4E1CB}" destId="{B2E2B9BE-F0CC-46A3-9BC1-F263B12AA0E6}" srcOrd="1" destOrd="0" parTransId="{B8B7EC2D-A23F-4067-8583-6341DCD40A69}" sibTransId="{B7F21BF8-C406-47B3-8222-77C52FD41374}"/>
    <dgm:cxn modelId="{EACB532E-AE22-4C87-BF5A-955A8AD88969}" type="presOf" srcId="{87134CBF-52F6-47E5-BD3F-8B595AD975E1}" destId="{4DA3B588-1CDF-49BF-98BE-562D3E10890C}" srcOrd="0" destOrd="4" presId="urn:microsoft.com/office/officeart/2005/8/layout/hList1"/>
    <dgm:cxn modelId="{B7E33537-C8D4-4D33-8D9C-5F00DF85B824}" srcId="{9F437935-C381-43D8-8D1C-F808BCC4E1CB}" destId="{F7F375D8-30CD-4AD9-8729-A1AE34D3703F}" srcOrd="0" destOrd="0" parTransId="{47C02065-2709-4EFF-87B9-C8C7AE04EB39}" sibTransId="{844522F9-FB1C-403B-847D-342296FA504D}"/>
    <dgm:cxn modelId="{7366295C-8A84-417E-8830-5F1808BF3EB5}" srcId="{5EE180CD-6F64-4EFB-BE78-17688361F3B3}" destId="{1312ECC1-12FE-4A0C-8759-3FDCA231CF35}" srcOrd="2" destOrd="0" parTransId="{4F1EE4E3-2E0B-4AB4-B0DF-53F1E9FC349A}" sibTransId="{AA89BCF3-A33D-4353-BF54-A80E42395F01}"/>
    <dgm:cxn modelId="{70906C45-B7BA-4F96-A25B-F848688659E5}" type="presOf" srcId="{A29C59CF-8F13-4840-9821-0B7BF78E1E4B}" destId="{EF0EB6E9-BCA5-46D6-9FFE-1C3AF5BC8CAF}" srcOrd="0" destOrd="2" presId="urn:microsoft.com/office/officeart/2005/8/layout/hList1"/>
    <dgm:cxn modelId="{907DB450-0DC5-4FC7-B925-7D4C67418C2B}" type="presOf" srcId="{9F437935-C381-43D8-8D1C-F808BCC4E1CB}" destId="{1E162603-9E15-4E5A-80F8-76B7E8A48FDC}" srcOrd="0" destOrd="0" presId="urn:microsoft.com/office/officeart/2005/8/layout/hList1"/>
    <dgm:cxn modelId="{FE556472-1211-429B-990F-747852CC38BC}" type="presOf" srcId="{8F384E57-697A-4A25-B54A-C403E0BE8F06}" destId="{0DEB8DDE-6B58-43F0-8061-18AF55EBDAB1}" srcOrd="0" destOrd="2" presId="urn:microsoft.com/office/officeart/2005/8/layout/hList1"/>
    <dgm:cxn modelId="{21232374-74A5-4E6A-94D5-98AF192B45D9}" srcId="{19A27A4E-A769-4F32-8C66-7004436D529F}" destId="{8F384E57-697A-4A25-B54A-C403E0BE8F06}" srcOrd="2" destOrd="0" parTransId="{6C0D433F-8430-499D-97C4-2A26464C533D}" sibTransId="{D675E3E6-75D0-4FC6-A9CA-88E8EBBC2F6E}"/>
    <dgm:cxn modelId="{4D57AE55-FAD5-4B4D-8336-E00E6AB3FF4F}" type="presOf" srcId="{F7F375D8-30CD-4AD9-8729-A1AE34D3703F}" destId="{EF0EB6E9-BCA5-46D6-9FFE-1C3AF5BC8CAF}" srcOrd="0" destOrd="0" presId="urn:microsoft.com/office/officeart/2005/8/layout/hList1"/>
    <dgm:cxn modelId="{366B4D7D-DAB4-49A9-95E8-C57EB9ED80CD}" srcId="{C6F55A0E-3E44-47D5-85A7-0A03C42D3939}" destId="{5EE180CD-6F64-4EFB-BE78-17688361F3B3}" srcOrd="3" destOrd="0" parTransId="{24C745DA-4EA6-4E15-986E-EF61A27294F9}" sibTransId="{A342FE81-0EF8-46F4-9443-BAAC9435C1BD}"/>
    <dgm:cxn modelId="{C509EB83-CA07-45D2-AEBC-4CF16F56463B}" type="presOf" srcId="{1312ECC1-12FE-4A0C-8759-3FDCA231CF35}" destId="{4DA3B588-1CDF-49BF-98BE-562D3E10890C}" srcOrd="0" destOrd="2" presId="urn:microsoft.com/office/officeart/2005/8/layout/hList1"/>
    <dgm:cxn modelId="{C2965B84-BF9F-4289-A40B-CBB83DA82D74}" type="presOf" srcId="{19A27A4E-A769-4F32-8C66-7004436D529F}" destId="{DDE6876D-53B0-4B81-9A79-85EA02365997}" srcOrd="0" destOrd="0" presId="urn:microsoft.com/office/officeart/2005/8/layout/hList1"/>
    <dgm:cxn modelId="{FE51EB86-1305-4367-9DDA-A0F3672657E7}" srcId="{5EE180CD-6F64-4EFB-BE78-17688361F3B3}" destId="{E28C814E-B722-4301-A324-1DFBBC8AB834}" srcOrd="1" destOrd="0" parTransId="{8AA6207E-84FE-4446-925C-016305804058}" sibTransId="{49EAEA7D-0692-4070-9151-A7ACD35854EB}"/>
    <dgm:cxn modelId="{A98BA589-6503-40D9-A6ED-2B17D9B9C9C2}" type="presOf" srcId="{40CE9C13-9E53-4CD4-8432-A74190575DFD}" destId="{24029EAC-2CF7-4DBD-ACB5-96D5D3F75935}" srcOrd="0" destOrd="2" presId="urn:microsoft.com/office/officeart/2005/8/layout/hList1"/>
    <dgm:cxn modelId="{521C968C-A8FF-453E-815D-96B6FD77F0EC}" type="presOf" srcId="{B2E2B9BE-F0CC-46A3-9BC1-F263B12AA0E6}" destId="{EF0EB6E9-BCA5-46D6-9FFE-1C3AF5BC8CAF}" srcOrd="0" destOrd="1" presId="urn:microsoft.com/office/officeart/2005/8/layout/hList1"/>
    <dgm:cxn modelId="{C92C5E91-050F-4875-85E0-E0E73160AB77}" srcId="{5EE180CD-6F64-4EFB-BE78-17688361F3B3}" destId="{87134CBF-52F6-47E5-BD3F-8B595AD975E1}" srcOrd="4" destOrd="0" parTransId="{44E6DC05-A124-4B12-AE47-949F0332261F}" sibTransId="{42CEAA3A-32BB-4EDD-BEC0-3FCB8726F771}"/>
    <dgm:cxn modelId="{FF938793-BB11-4898-B6CD-9D09676C7F3C}" srcId="{19A27A4E-A769-4F32-8C66-7004436D529F}" destId="{7C18D3AC-6B37-4B07-A99A-9D214DA0A13C}" srcOrd="0" destOrd="0" parTransId="{3019750A-BC89-44B1-82D9-0AC35741DB87}" sibTransId="{637DE692-6D4F-473F-BC0F-8D46EC3B5BA8}"/>
    <dgm:cxn modelId="{AF280294-5173-463D-9C72-C8576AED8702}" srcId="{095C0A56-BFAB-4DDF-8590-AF3431233A3B}" destId="{14EAE477-5455-4F21-90C0-986E31D90484}" srcOrd="1" destOrd="0" parTransId="{E59520A6-D913-448A-B49E-8E3EDC758F85}" sibTransId="{25AA3259-897A-4D02-9655-D64522CEB6A6}"/>
    <dgm:cxn modelId="{48712298-C4B2-45A2-A379-D7F64256B4A2}" srcId="{C6F55A0E-3E44-47D5-85A7-0A03C42D3939}" destId="{095C0A56-BFAB-4DDF-8590-AF3431233A3B}" srcOrd="2" destOrd="0" parTransId="{FCB6536A-7152-4098-A91A-43843B1B5D4E}" sibTransId="{FCB04652-0D80-423E-8132-39AC56ADB07E}"/>
    <dgm:cxn modelId="{82768F99-7DEE-4B45-860E-C3264B410044}" srcId="{9F437935-C381-43D8-8D1C-F808BCC4E1CB}" destId="{A29C59CF-8F13-4840-9821-0B7BF78E1E4B}" srcOrd="2" destOrd="0" parTransId="{1AF29FE9-00A1-4466-853E-AC771D10657C}" sibTransId="{36610E97-4974-4E77-BBC2-0E0C8E26A76C}"/>
    <dgm:cxn modelId="{53A837BF-9786-43FA-B1C5-63808AA1E27E}" type="presOf" srcId="{36F83EE8-4131-40BA-AF60-9F90E327EE49}" destId="{4DA3B588-1CDF-49BF-98BE-562D3E10890C}" srcOrd="0" destOrd="0" presId="urn:microsoft.com/office/officeart/2005/8/layout/hList1"/>
    <dgm:cxn modelId="{45F316C1-61CA-4FF0-895D-0066CAC1FD7B}" srcId="{5EE180CD-6F64-4EFB-BE78-17688361F3B3}" destId="{1F1C36B8-A431-4759-8A00-B28F2B630F72}" srcOrd="3" destOrd="0" parTransId="{C081312D-5017-4E88-8BD3-739BA1D31E9F}" sibTransId="{8B409743-DC43-4998-82E3-68AC955F0300}"/>
    <dgm:cxn modelId="{85EB4AC2-7175-44FA-AC84-7A050D79F563}" type="presOf" srcId="{888CFBCB-0DE6-4977-B1BB-2017EEF52D08}" destId="{0DEB8DDE-6B58-43F0-8061-18AF55EBDAB1}" srcOrd="0" destOrd="1" presId="urn:microsoft.com/office/officeart/2005/8/layout/hList1"/>
    <dgm:cxn modelId="{29CC28C3-A13F-4206-B2D0-152CCA7C5F44}" srcId="{19A27A4E-A769-4F32-8C66-7004436D529F}" destId="{888CFBCB-0DE6-4977-B1BB-2017EEF52D08}" srcOrd="1" destOrd="0" parTransId="{150A4D9B-B50E-4291-9BEE-40A9E5DB167E}" sibTransId="{FAB426BD-815C-41E8-98C6-94A6A92078AE}"/>
    <dgm:cxn modelId="{D239BAC3-0C5D-4805-A30C-367DA0773448}" srcId="{5EE180CD-6F64-4EFB-BE78-17688361F3B3}" destId="{36F83EE8-4131-40BA-AF60-9F90E327EE49}" srcOrd="0" destOrd="0" parTransId="{6848470D-0525-4FF4-9930-EF6188700A65}" sibTransId="{DED2FB50-109A-4478-8B68-7DF9547442C5}"/>
    <dgm:cxn modelId="{E4A4B9C5-BCDB-4A90-9128-F99A38E33A7A}" srcId="{C6F55A0E-3E44-47D5-85A7-0A03C42D3939}" destId="{19A27A4E-A769-4F32-8C66-7004436D529F}" srcOrd="1" destOrd="0" parTransId="{0CDEE231-9813-495F-8B4E-87F88A264FA6}" sibTransId="{3A6454FB-0F2F-406C-A549-734D0F4FEE5E}"/>
    <dgm:cxn modelId="{7EAC4FC6-B1C4-4D72-9208-A825DBFAF334}" type="presOf" srcId="{5EE180CD-6F64-4EFB-BE78-17688361F3B3}" destId="{7BBF78E4-85B2-4813-884C-9D26DB8CAC9C}" srcOrd="0" destOrd="0" presId="urn:microsoft.com/office/officeart/2005/8/layout/hList1"/>
    <dgm:cxn modelId="{10E6EBC9-30D4-4631-A538-5A62445550A1}" type="presOf" srcId="{C6F55A0E-3E44-47D5-85A7-0A03C42D3939}" destId="{3DAC8A60-4555-476A-86F9-7B8321C1974B}" srcOrd="0" destOrd="0" presId="urn:microsoft.com/office/officeart/2005/8/layout/hList1"/>
    <dgm:cxn modelId="{9550D5CE-3E76-4B12-B669-B0254C3BF8F3}" type="presOf" srcId="{E28C814E-B722-4301-A324-1DFBBC8AB834}" destId="{4DA3B588-1CDF-49BF-98BE-562D3E10890C}" srcOrd="0" destOrd="1" presId="urn:microsoft.com/office/officeart/2005/8/layout/hList1"/>
    <dgm:cxn modelId="{464F68D3-5388-4642-ABBD-0F0258EDFFF4}" srcId="{095C0A56-BFAB-4DDF-8590-AF3431233A3B}" destId="{40CE9C13-9E53-4CD4-8432-A74190575DFD}" srcOrd="2" destOrd="0" parTransId="{E5995780-703B-417E-9A5F-20C483B209C5}" sibTransId="{0EA2E5C9-E0CB-43BA-B5B8-50E58B081AFE}"/>
    <dgm:cxn modelId="{D69160DF-C480-4C2A-A0C0-62BCD3F5ED2E}" type="presOf" srcId="{14EAE477-5455-4F21-90C0-986E31D90484}" destId="{24029EAC-2CF7-4DBD-ACB5-96D5D3F75935}" srcOrd="0" destOrd="1" presId="urn:microsoft.com/office/officeart/2005/8/layout/hList1"/>
    <dgm:cxn modelId="{614A38F8-22D0-464D-9D12-56DA2937A217}" type="presOf" srcId="{7C18D3AC-6B37-4B07-A99A-9D214DA0A13C}" destId="{0DEB8DDE-6B58-43F0-8061-18AF55EBDAB1}" srcOrd="0" destOrd="0" presId="urn:microsoft.com/office/officeart/2005/8/layout/hList1"/>
    <dgm:cxn modelId="{2E2C01FE-EF1C-483F-BEF9-BC7835BA2C7A}" type="presOf" srcId="{1F1C36B8-A431-4759-8A00-B28F2B630F72}" destId="{4DA3B588-1CDF-49BF-98BE-562D3E10890C}" srcOrd="0" destOrd="3" presId="urn:microsoft.com/office/officeart/2005/8/layout/hList1"/>
    <dgm:cxn modelId="{2AED7C1E-D86D-42AD-9AE4-D742C668C5EB}" type="presParOf" srcId="{3DAC8A60-4555-476A-86F9-7B8321C1974B}" destId="{9078F3B4-7259-4D62-B61F-3BD9EC0157F2}" srcOrd="0" destOrd="0" presId="urn:microsoft.com/office/officeart/2005/8/layout/hList1"/>
    <dgm:cxn modelId="{9EE27300-BC3E-462D-AFFF-F0D686DC986E}" type="presParOf" srcId="{9078F3B4-7259-4D62-B61F-3BD9EC0157F2}" destId="{1E162603-9E15-4E5A-80F8-76B7E8A48FDC}" srcOrd="0" destOrd="0" presId="urn:microsoft.com/office/officeart/2005/8/layout/hList1"/>
    <dgm:cxn modelId="{A27BEAA6-838C-45A1-AE6F-770B08A3D952}" type="presParOf" srcId="{9078F3B4-7259-4D62-B61F-3BD9EC0157F2}" destId="{EF0EB6E9-BCA5-46D6-9FFE-1C3AF5BC8CAF}" srcOrd="1" destOrd="0" presId="urn:microsoft.com/office/officeart/2005/8/layout/hList1"/>
    <dgm:cxn modelId="{2A3130FF-AF0D-4517-8645-B862F08AD59A}" type="presParOf" srcId="{3DAC8A60-4555-476A-86F9-7B8321C1974B}" destId="{0C584CFE-642D-4DDC-A583-0600A4AB39CF}" srcOrd="1" destOrd="0" presId="urn:microsoft.com/office/officeart/2005/8/layout/hList1"/>
    <dgm:cxn modelId="{B94BB7C2-205B-4274-8A12-2F175E048504}" type="presParOf" srcId="{3DAC8A60-4555-476A-86F9-7B8321C1974B}" destId="{BB45E609-D1F7-4F15-839B-3D5FC23CB3DD}" srcOrd="2" destOrd="0" presId="urn:microsoft.com/office/officeart/2005/8/layout/hList1"/>
    <dgm:cxn modelId="{F39FA3AB-D17F-46D7-9615-AFACC40CD246}" type="presParOf" srcId="{BB45E609-D1F7-4F15-839B-3D5FC23CB3DD}" destId="{DDE6876D-53B0-4B81-9A79-85EA02365997}" srcOrd="0" destOrd="0" presId="urn:microsoft.com/office/officeart/2005/8/layout/hList1"/>
    <dgm:cxn modelId="{06F040D5-E875-491B-86EC-E31D83D03F9D}" type="presParOf" srcId="{BB45E609-D1F7-4F15-839B-3D5FC23CB3DD}" destId="{0DEB8DDE-6B58-43F0-8061-18AF55EBDAB1}" srcOrd="1" destOrd="0" presId="urn:microsoft.com/office/officeart/2005/8/layout/hList1"/>
    <dgm:cxn modelId="{3D4E97BA-453A-410F-8350-EFD0ADF5D81D}" type="presParOf" srcId="{3DAC8A60-4555-476A-86F9-7B8321C1974B}" destId="{8E724708-F3E0-4B80-A8E2-D184D9C9495E}" srcOrd="3" destOrd="0" presId="urn:microsoft.com/office/officeart/2005/8/layout/hList1"/>
    <dgm:cxn modelId="{47BE7C71-365E-4FED-9A2F-955C25EAB187}" type="presParOf" srcId="{3DAC8A60-4555-476A-86F9-7B8321C1974B}" destId="{26A5EF9B-BEEF-4DFE-A4D9-2B2C3D1FC70C}" srcOrd="4" destOrd="0" presId="urn:microsoft.com/office/officeart/2005/8/layout/hList1"/>
    <dgm:cxn modelId="{30B24684-1BEC-450F-B327-5862CE3CDF29}" type="presParOf" srcId="{26A5EF9B-BEEF-4DFE-A4D9-2B2C3D1FC70C}" destId="{8667E346-49E9-4B73-AFEC-DA1F6FF839F8}" srcOrd="0" destOrd="0" presId="urn:microsoft.com/office/officeart/2005/8/layout/hList1"/>
    <dgm:cxn modelId="{719C767C-C924-4251-8768-0B404564A5BC}" type="presParOf" srcId="{26A5EF9B-BEEF-4DFE-A4D9-2B2C3D1FC70C}" destId="{24029EAC-2CF7-4DBD-ACB5-96D5D3F75935}" srcOrd="1" destOrd="0" presId="urn:microsoft.com/office/officeart/2005/8/layout/hList1"/>
    <dgm:cxn modelId="{4732B018-86A3-455E-BE98-90B97FAF5701}" type="presParOf" srcId="{3DAC8A60-4555-476A-86F9-7B8321C1974B}" destId="{80A96FDA-02BB-414D-93A1-15B4547DE33A}" srcOrd="5" destOrd="0" presId="urn:microsoft.com/office/officeart/2005/8/layout/hList1"/>
    <dgm:cxn modelId="{6DE35366-7966-4290-BD23-B972239A2EED}" type="presParOf" srcId="{3DAC8A60-4555-476A-86F9-7B8321C1974B}" destId="{EAC31691-FF8A-43C6-9D0E-A251CC581300}" srcOrd="6" destOrd="0" presId="urn:microsoft.com/office/officeart/2005/8/layout/hList1"/>
    <dgm:cxn modelId="{84337488-3CEA-490F-9B86-5BB9BF9ED6CF}" type="presParOf" srcId="{EAC31691-FF8A-43C6-9D0E-A251CC581300}" destId="{7BBF78E4-85B2-4813-884C-9D26DB8CAC9C}" srcOrd="0" destOrd="0" presId="urn:microsoft.com/office/officeart/2005/8/layout/hList1"/>
    <dgm:cxn modelId="{D5E812AF-CD8B-45CE-A00C-4CDDA44CD2A3}" type="presParOf" srcId="{EAC31691-FF8A-43C6-9D0E-A251CC581300}" destId="{4DA3B588-1CDF-49BF-98BE-562D3E10890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E6EC57-2111-4684-80FA-653C66905C95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156238-8EBE-4F87-B27C-32627F828030}">
      <dgm:prSet phldrT="[Text]" phldr="0"/>
      <dgm:spPr/>
      <dgm:t>
        <a:bodyPr/>
        <a:lstStyle/>
        <a:p>
          <a:r>
            <a:rPr lang="en-US" dirty="0"/>
            <a:t>85.2</a:t>
          </a:r>
        </a:p>
      </dgm:t>
    </dgm:pt>
    <dgm:pt modelId="{075859AC-3DB9-4379-ABE3-E59503EB9DC8}" type="parTrans" cxnId="{39C87356-66DD-418A-9B69-B85688C5B69F}">
      <dgm:prSet/>
      <dgm:spPr/>
      <dgm:t>
        <a:bodyPr/>
        <a:lstStyle/>
        <a:p>
          <a:endParaRPr lang="en-US"/>
        </a:p>
      </dgm:t>
    </dgm:pt>
    <dgm:pt modelId="{0E8ACE9C-AA97-45FA-B4FB-E4F016A610D7}" type="sibTrans" cxnId="{39C87356-66DD-418A-9B69-B85688C5B69F}">
      <dgm:prSet/>
      <dgm:spPr/>
      <dgm:t>
        <a:bodyPr/>
        <a:lstStyle/>
        <a:p>
          <a:endParaRPr lang="en-US"/>
        </a:p>
      </dgm:t>
    </dgm:pt>
    <dgm:pt modelId="{EEC7A689-341D-4C18-AC30-F183F07FD12C}">
      <dgm:prSet phldrT="[Text]" phldr="0"/>
      <dgm:spPr/>
      <dgm:t>
        <a:bodyPr/>
        <a:lstStyle/>
        <a:p>
          <a:r>
            <a:rPr lang="en-US" dirty="0"/>
            <a:t>kg/cycle</a:t>
          </a:r>
        </a:p>
      </dgm:t>
    </dgm:pt>
    <dgm:pt modelId="{D8ED3E85-F205-4205-BABB-ACE44378DE09}" type="parTrans" cxnId="{F1E25BC3-585C-4F5E-A8B9-3E53233B3B05}">
      <dgm:prSet/>
      <dgm:spPr/>
      <dgm:t>
        <a:bodyPr/>
        <a:lstStyle/>
        <a:p>
          <a:endParaRPr lang="en-US"/>
        </a:p>
      </dgm:t>
    </dgm:pt>
    <dgm:pt modelId="{136B2521-0DAD-4F69-B340-21AD2E73CE56}" type="sibTrans" cxnId="{F1E25BC3-585C-4F5E-A8B9-3E53233B3B05}">
      <dgm:prSet/>
      <dgm:spPr/>
      <dgm:t>
        <a:bodyPr/>
        <a:lstStyle/>
        <a:p>
          <a:endParaRPr lang="en-US"/>
        </a:p>
      </dgm:t>
    </dgm:pt>
    <dgm:pt modelId="{2AB52053-0FA5-4745-B007-60C6DE4339CE}">
      <dgm:prSet phldrT="[Text]" phldr="0"/>
      <dgm:spPr/>
      <dgm:t>
        <a:bodyPr/>
        <a:lstStyle/>
        <a:p>
          <a:r>
            <a:rPr lang="en-US" dirty="0"/>
            <a:t>TRU destroyed</a:t>
          </a:r>
        </a:p>
      </dgm:t>
    </dgm:pt>
    <dgm:pt modelId="{7E0B517B-482A-474C-B54E-0D4EDD5236A4}" type="parTrans" cxnId="{1F8C9C7B-2D0C-4A93-95AE-59B7F2451F10}">
      <dgm:prSet/>
      <dgm:spPr/>
      <dgm:t>
        <a:bodyPr/>
        <a:lstStyle/>
        <a:p>
          <a:endParaRPr lang="en-US"/>
        </a:p>
      </dgm:t>
    </dgm:pt>
    <dgm:pt modelId="{0E84F56B-9E1E-422A-83E6-33941C7E8EAB}" type="sibTrans" cxnId="{1F8C9C7B-2D0C-4A93-95AE-59B7F2451F10}">
      <dgm:prSet/>
      <dgm:spPr/>
      <dgm:t>
        <a:bodyPr/>
        <a:lstStyle/>
        <a:p>
          <a:endParaRPr lang="en-US"/>
        </a:p>
      </dgm:t>
    </dgm:pt>
    <dgm:pt modelId="{7D62BA7B-CC49-49AE-9FB1-CDE1A4A3D2E0}">
      <dgm:prSet phldrT="[Text]" phldr="0"/>
      <dgm:spPr/>
      <dgm:t>
        <a:bodyPr/>
        <a:lstStyle/>
        <a:p>
          <a:r>
            <a:rPr lang="en-US" dirty="0"/>
            <a:t>94.8</a:t>
          </a:r>
        </a:p>
      </dgm:t>
    </dgm:pt>
    <dgm:pt modelId="{A083C277-1A32-4A89-936C-9A6CE681711E}" type="parTrans" cxnId="{7BA4946F-43D1-4CEE-B15C-4B6FCCDEE39A}">
      <dgm:prSet/>
      <dgm:spPr/>
      <dgm:t>
        <a:bodyPr/>
        <a:lstStyle/>
        <a:p>
          <a:endParaRPr lang="en-US"/>
        </a:p>
      </dgm:t>
    </dgm:pt>
    <dgm:pt modelId="{8F2074F3-7194-46EE-97E9-5DF3F7D58456}" type="sibTrans" cxnId="{7BA4946F-43D1-4CEE-B15C-4B6FCCDEE39A}">
      <dgm:prSet/>
      <dgm:spPr/>
      <dgm:t>
        <a:bodyPr/>
        <a:lstStyle/>
        <a:p>
          <a:endParaRPr lang="en-US"/>
        </a:p>
      </dgm:t>
    </dgm:pt>
    <dgm:pt modelId="{B61AB719-4A34-46FE-8816-A9E48FE307BD}">
      <dgm:prSet phldrT="[Text]" phldr="0"/>
      <dgm:spPr/>
      <dgm:t>
        <a:bodyPr/>
        <a:lstStyle/>
        <a:p>
          <a:r>
            <a:rPr lang="en-US" dirty="0"/>
            <a:t>kg/year</a:t>
          </a:r>
        </a:p>
      </dgm:t>
    </dgm:pt>
    <dgm:pt modelId="{BDD49F6C-AAAF-47A0-B22F-240D91D3A3B8}" type="parTrans" cxnId="{199B9DFC-8796-4F20-A8FD-083FEED44435}">
      <dgm:prSet/>
      <dgm:spPr/>
      <dgm:t>
        <a:bodyPr/>
        <a:lstStyle/>
        <a:p>
          <a:endParaRPr lang="en-US"/>
        </a:p>
      </dgm:t>
    </dgm:pt>
    <dgm:pt modelId="{E21A5AB8-1F05-4266-AFA8-3D74BBC771CE}" type="sibTrans" cxnId="{199B9DFC-8796-4F20-A8FD-083FEED44435}">
      <dgm:prSet/>
      <dgm:spPr/>
      <dgm:t>
        <a:bodyPr/>
        <a:lstStyle/>
        <a:p>
          <a:endParaRPr lang="en-US"/>
        </a:p>
      </dgm:t>
    </dgm:pt>
    <dgm:pt modelId="{606A0B35-5348-4B65-8BBD-B51D5C29A5B8}">
      <dgm:prSet phldrT="[Text]" phldr="0"/>
      <dgm:spPr/>
      <dgm:t>
        <a:bodyPr/>
        <a:lstStyle/>
        <a:p>
          <a:r>
            <a:rPr lang="en-US" dirty="0"/>
            <a:t>TRU consumed</a:t>
          </a:r>
        </a:p>
      </dgm:t>
    </dgm:pt>
    <dgm:pt modelId="{2E2BDB9F-6076-4B71-BAC7-B6FCF5C96749}" type="parTrans" cxnId="{568F7833-6B73-4245-9CDE-63625A2367EF}">
      <dgm:prSet/>
      <dgm:spPr/>
      <dgm:t>
        <a:bodyPr/>
        <a:lstStyle/>
        <a:p>
          <a:endParaRPr lang="en-US"/>
        </a:p>
      </dgm:t>
    </dgm:pt>
    <dgm:pt modelId="{4D540655-128C-44D4-AB65-164C05EA5AF9}" type="sibTrans" cxnId="{568F7833-6B73-4245-9CDE-63625A2367EF}">
      <dgm:prSet/>
      <dgm:spPr/>
      <dgm:t>
        <a:bodyPr/>
        <a:lstStyle/>
        <a:p>
          <a:endParaRPr lang="en-US"/>
        </a:p>
      </dgm:t>
    </dgm:pt>
    <dgm:pt modelId="{2C746356-8CFA-44E7-A0DE-54F614573046}">
      <dgm:prSet phldrT="[Text]" phldr="0"/>
      <dgm:spPr/>
      <dgm:t>
        <a:bodyPr/>
        <a:lstStyle/>
        <a:p>
          <a:r>
            <a:rPr lang="en-US" dirty="0"/>
            <a:t>2859.4 kg → 2774.2 kg</a:t>
          </a:r>
        </a:p>
      </dgm:t>
    </dgm:pt>
    <dgm:pt modelId="{BDEF625A-9B29-4B41-BB5E-566DF1873D8F}" type="parTrans" cxnId="{857E7F0A-FD43-4231-ABED-4D751CF57BBB}">
      <dgm:prSet/>
      <dgm:spPr/>
      <dgm:t>
        <a:bodyPr/>
        <a:lstStyle/>
        <a:p>
          <a:endParaRPr lang="en-US"/>
        </a:p>
      </dgm:t>
    </dgm:pt>
    <dgm:pt modelId="{4D441AA1-98A5-436E-B70B-2A47C2AAC904}" type="sibTrans" cxnId="{857E7F0A-FD43-4231-ABED-4D751CF57BBB}">
      <dgm:prSet/>
      <dgm:spPr/>
      <dgm:t>
        <a:bodyPr/>
        <a:lstStyle/>
        <a:p>
          <a:endParaRPr lang="en-US"/>
        </a:p>
      </dgm:t>
    </dgm:pt>
    <dgm:pt modelId="{BE88A432-D713-492A-98AA-6FC20B6009B1}">
      <dgm:prSet phldrT="[Text]" phldr="0"/>
      <dgm:spPr/>
      <dgm:t>
        <a:bodyPr/>
        <a:lstStyle/>
        <a:p>
          <a:pPr>
            <a:buNone/>
          </a:pPr>
          <a:r>
            <a:rPr lang="en-US" dirty="0"/>
            <a:t>ANL reference: 81.6 kg/year (~16% elevated due to positive k-eff bias)</a:t>
          </a:r>
        </a:p>
      </dgm:t>
    </dgm:pt>
    <dgm:pt modelId="{27C9DAD7-B001-41C7-9B67-FF295BBA07C1}" type="parTrans" cxnId="{DF900531-1FE9-42BD-AFBB-07ACB660ED6F}">
      <dgm:prSet/>
      <dgm:spPr/>
      <dgm:t>
        <a:bodyPr/>
        <a:lstStyle/>
        <a:p>
          <a:endParaRPr lang="en-US"/>
        </a:p>
      </dgm:t>
    </dgm:pt>
    <dgm:pt modelId="{6C8C2067-F1D8-490A-9477-658E8A670C8B}" type="sibTrans" cxnId="{DF900531-1FE9-42BD-AFBB-07ACB660ED6F}">
      <dgm:prSet/>
      <dgm:spPr/>
      <dgm:t>
        <a:bodyPr/>
        <a:lstStyle/>
        <a:p>
          <a:endParaRPr lang="en-US"/>
        </a:p>
      </dgm:t>
    </dgm:pt>
    <dgm:pt modelId="{9C94349D-BB69-42E3-AAC5-549AEDDFD667}" type="pres">
      <dgm:prSet presAssocID="{0EE6EC57-2111-4684-80FA-653C66905C95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C5BF6C5-130D-49D9-A085-9871A9C79FD9}" type="pres">
      <dgm:prSet presAssocID="{C6156238-8EBE-4F87-B27C-32627F828030}" presName="composite" presStyleCnt="0"/>
      <dgm:spPr/>
    </dgm:pt>
    <dgm:pt modelId="{445081A5-35C5-4A48-996C-46D7B2E56FFF}" type="pres">
      <dgm:prSet presAssocID="{C6156238-8EBE-4F87-B27C-32627F828030}" presName="FirstChild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74DB980D-A5CF-4ED8-AEC7-CD175547972B}" type="pres">
      <dgm:prSet presAssocID="{C6156238-8EBE-4F87-B27C-32627F828030}" presName="Parent" presStyleLbl="alignNode1" presStyleIdx="0" presStyleCnt="2">
        <dgm:presLayoutVars>
          <dgm:chMax val="3"/>
          <dgm:chPref val="3"/>
          <dgm:bulletEnabled val="1"/>
        </dgm:presLayoutVars>
      </dgm:prSet>
      <dgm:spPr/>
    </dgm:pt>
    <dgm:pt modelId="{F3CA3FFF-CEE8-4692-BED1-30E5551EACB5}" type="pres">
      <dgm:prSet presAssocID="{C6156238-8EBE-4F87-B27C-32627F828030}" presName="Accent" presStyleLbl="parChTrans1D1" presStyleIdx="0" presStyleCnt="2"/>
      <dgm:spPr/>
    </dgm:pt>
    <dgm:pt modelId="{B6A47D28-96E7-4664-99D6-629278766485}" type="pres">
      <dgm:prSet presAssocID="{C6156238-8EBE-4F87-B27C-32627F828030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DFF0FEE-DC4D-4CB0-AADC-B1B23647BD5B}" type="pres">
      <dgm:prSet presAssocID="{0E8ACE9C-AA97-45FA-B4FB-E4F016A610D7}" presName="sibTrans" presStyleCnt="0"/>
      <dgm:spPr/>
    </dgm:pt>
    <dgm:pt modelId="{C4CA8170-921E-4797-A8D4-804FA17EC857}" type="pres">
      <dgm:prSet presAssocID="{7D62BA7B-CC49-49AE-9FB1-CDE1A4A3D2E0}" presName="composite" presStyleCnt="0"/>
      <dgm:spPr/>
    </dgm:pt>
    <dgm:pt modelId="{8973A94C-D163-4EFF-A20B-527DFC21FF8D}" type="pres">
      <dgm:prSet presAssocID="{7D62BA7B-CC49-49AE-9FB1-CDE1A4A3D2E0}" presName="First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6E2F2181-A898-4303-805F-05C7F4A8D238}" type="pres">
      <dgm:prSet presAssocID="{7D62BA7B-CC49-49AE-9FB1-CDE1A4A3D2E0}" presName="Parent" presStyleLbl="alignNode1" presStyleIdx="1" presStyleCnt="2">
        <dgm:presLayoutVars>
          <dgm:chMax val="3"/>
          <dgm:chPref val="3"/>
          <dgm:bulletEnabled val="1"/>
        </dgm:presLayoutVars>
      </dgm:prSet>
      <dgm:spPr/>
    </dgm:pt>
    <dgm:pt modelId="{72AB931F-CE4F-4060-B384-2E678C36B7B8}" type="pres">
      <dgm:prSet presAssocID="{7D62BA7B-CC49-49AE-9FB1-CDE1A4A3D2E0}" presName="Accent" presStyleLbl="parChTrans1D1" presStyleIdx="1" presStyleCnt="2"/>
      <dgm:spPr/>
    </dgm:pt>
    <dgm:pt modelId="{D00F1D52-9194-402F-B74E-ECEE13A0E267}" type="pres">
      <dgm:prSet presAssocID="{7D62BA7B-CC49-49AE-9FB1-CDE1A4A3D2E0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57E7F0A-FD43-4231-ABED-4D751CF57BBB}" srcId="{C6156238-8EBE-4F87-B27C-32627F828030}" destId="{2C746356-8CFA-44E7-A0DE-54F614573046}" srcOrd="2" destOrd="0" parTransId="{BDEF625A-9B29-4B41-BB5E-566DF1873D8F}" sibTransId="{4D441AA1-98A5-436E-B70B-2A47C2AAC904}"/>
    <dgm:cxn modelId="{DF900531-1FE9-42BD-AFBB-07ACB660ED6F}" srcId="{7D62BA7B-CC49-49AE-9FB1-CDE1A4A3D2E0}" destId="{BE88A432-D713-492A-98AA-6FC20B6009B1}" srcOrd="2" destOrd="0" parTransId="{27C9DAD7-B001-41C7-9B67-FF295BBA07C1}" sibTransId="{6C8C2067-F1D8-490A-9477-658E8A670C8B}"/>
    <dgm:cxn modelId="{568F7833-6B73-4245-9CDE-63625A2367EF}" srcId="{7D62BA7B-CC49-49AE-9FB1-CDE1A4A3D2E0}" destId="{606A0B35-5348-4B65-8BBD-B51D5C29A5B8}" srcOrd="1" destOrd="0" parTransId="{2E2BDB9F-6076-4B71-BAC7-B6FCF5C96749}" sibTransId="{4D540655-128C-44D4-AB65-164C05EA5AF9}"/>
    <dgm:cxn modelId="{9652953A-35CB-46F0-AB7E-B86B06F5BCF1}" type="presOf" srcId="{EEC7A689-341D-4C18-AC30-F183F07FD12C}" destId="{445081A5-35C5-4A48-996C-46D7B2E56FFF}" srcOrd="0" destOrd="0" presId="urn:microsoft.com/office/officeart/2011/layout/TabList"/>
    <dgm:cxn modelId="{10AA725B-CB51-4E6E-A6DE-27E5D04D64CA}" type="presOf" srcId="{C6156238-8EBE-4F87-B27C-32627F828030}" destId="{74DB980D-A5CF-4ED8-AEC7-CD175547972B}" srcOrd="0" destOrd="0" presId="urn:microsoft.com/office/officeart/2011/layout/TabList"/>
    <dgm:cxn modelId="{84F9575F-00BC-4F89-83B2-2A6823BFA06C}" type="presOf" srcId="{7D62BA7B-CC49-49AE-9FB1-CDE1A4A3D2E0}" destId="{6E2F2181-A898-4303-805F-05C7F4A8D238}" srcOrd="0" destOrd="0" presId="urn:microsoft.com/office/officeart/2011/layout/TabList"/>
    <dgm:cxn modelId="{F8B7E26E-23B8-4673-A56C-85A19CB99840}" type="presOf" srcId="{BE88A432-D713-492A-98AA-6FC20B6009B1}" destId="{D00F1D52-9194-402F-B74E-ECEE13A0E267}" srcOrd="0" destOrd="1" presId="urn:microsoft.com/office/officeart/2011/layout/TabList"/>
    <dgm:cxn modelId="{7BA4946F-43D1-4CEE-B15C-4B6FCCDEE39A}" srcId="{0EE6EC57-2111-4684-80FA-653C66905C95}" destId="{7D62BA7B-CC49-49AE-9FB1-CDE1A4A3D2E0}" srcOrd="1" destOrd="0" parTransId="{A083C277-1A32-4A89-936C-9A6CE681711E}" sibTransId="{8F2074F3-7194-46EE-97E9-5DF3F7D58456}"/>
    <dgm:cxn modelId="{39C87356-66DD-418A-9B69-B85688C5B69F}" srcId="{0EE6EC57-2111-4684-80FA-653C66905C95}" destId="{C6156238-8EBE-4F87-B27C-32627F828030}" srcOrd="0" destOrd="0" parTransId="{075859AC-3DB9-4379-ABE3-E59503EB9DC8}" sibTransId="{0E8ACE9C-AA97-45FA-B4FB-E4F016A610D7}"/>
    <dgm:cxn modelId="{1F8C9C7B-2D0C-4A93-95AE-59B7F2451F10}" srcId="{C6156238-8EBE-4F87-B27C-32627F828030}" destId="{2AB52053-0FA5-4745-B007-60C6DE4339CE}" srcOrd="1" destOrd="0" parTransId="{7E0B517B-482A-474C-B54E-0D4EDD5236A4}" sibTransId="{0E84F56B-9E1E-422A-83E6-33941C7E8EAB}"/>
    <dgm:cxn modelId="{BF0C3E8E-7A80-4251-AE4E-10A6C4A17312}" type="presOf" srcId="{606A0B35-5348-4B65-8BBD-B51D5C29A5B8}" destId="{D00F1D52-9194-402F-B74E-ECEE13A0E267}" srcOrd="0" destOrd="0" presId="urn:microsoft.com/office/officeart/2011/layout/TabList"/>
    <dgm:cxn modelId="{AB105CB4-E24D-4D92-8D3E-392E11EF5770}" type="presOf" srcId="{B61AB719-4A34-46FE-8816-A9E48FE307BD}" destId="{8973A94C-D163-4EFF-A20B-527DFC21FF8D}" srcOrd="0" destOrd="0" presId="urn:microsoft.com/office/officeart/2011/layout/TabList"/>
    <dgm:cxn modelId="{F1E25BC3-585C-4F5E-A8B9-3E53233B3B05}" srcId="{C6156238-8EBE-4F87-B27C-32627F828030}" destId="{EEC7A689-341D-4C18-AC30-F183F07FD12C}" srcOrd="0" destOrd="0" parTransId="{D8ED3E85-F205-4205-BABB-ACE44378DE09}" sibTransId="{136B2521-0DAD-4F69-B340-21AD2E73CE56}"/>
    <dgm:cxn modelId="{C3A9A4C9-CA07-4FDE-B777-114775A386C4}" type="presOf" srcId="{2AB52053-0FA5-4745-B007-60C6DE4339CE}" destId="{B6A47D28-96E7-4664-99D6-629278766485}" srcOrd="0" destOrd="0" presId="urn:microsoft.com/office/officeart/2011/layout/TabList"/>
    <dgm:cxn modelId="{E07C30D9-33C2-424A-B557-5C600DCAFF6F}" type="presOf" srcId="{0EE6EC57-2111-4684-80FA-653C66905C95}" destId="{9C94349D-BB69-42E3-AAC5-549AEDDFD667}" srcOrd="0" destOrd="0" presId="urn:microsoft.com/office/officeart/2011/layout/TabList"/>
    <dgm:cxn modelId="{319DC4EA-9082-417F-9647-882142D21580}" type="presOf" srcId="{2C746356-8CFA-44E7-A0DE-54F614573046}" destId="{B6A47D28-96E7-4664-99D6-629278766485}" srcOrd="0" destOrd="1" presId="urn:microsoft.com/office/officeart/2011/layout/TabList"/>
    <dgm:cxn modelId="{199B9DFC-8796-4F20-A8FD-083FEED44435}" srcId="{7D62BA7B-CC49-49AE-9FB1-CDE1A4A3D2E0}" destId="{B61AB719-4A34-46FE-8816-A9E48FE307BD}" srcOrd="0" destOrd="0" parTransId="{BDD49F6C-AAAF-47A0-B22F-240D91D3A3B8}" sibTransId="{E21A5AB8-1F05-4266-AFA8-3D74BBC771CE}"/>
    <dgm:cxn modelId="{A2C49E3F-D232-4194-8658-AB8E199C296C}" type="presParOf" srcId="{9C94349D-BB69-42E3-AAC5-549AEDDFD667}" destId="{6C5BF6C5-130D-49D9-A085-9871A9C79FD9}" srcOrd="0" destOrd="0" presId="urn:microsoft.com/office/officeart/2011/layout/TabList"/>
    <dgm:cxn modelId="{DA0ADFAC-4372-4E6A-81AB-01A5D5AE4682}" type="presParOf" srcId="{6C5BF6C5-130D-49D9-A085-9871A9C79FD9}" destId="{445081A5-35C5-4A48-996C-46D7B2E56FFF}" srcOrd="0" destOrd="0" presId="urn:microsoft.com/office/officeart/2011/layout/TabList"/>
    <dgm:cxn modelId="{F9F46CC4-FD13-4A14-A7B2-1392E9C434A2}" type="presParOf" srcId="{6C5BF6C5-130D-49D9-A085-9871A9C79FD9}" destId="{74DB980D-A5CF-4ED8-AEC7-CD175547972B}" srcOrd="1" destOrd="0" presId="urn:microsoft.com/office/officeart/2011/layout/TabList"/>
    <dgm:cxn modelId="{C59D272B-B35C-491B-9A61-752265A4874B}" type="presParOf" srcId="{6C5BF6C5-130D-49D9-A085-9871A9C79FD9}" destId="{F3CA3FFF-CEE8-4692-BED1-30E5551EACB5}" srcOrd="2" destOrd="0" presId="urn:microsoft.com/office/officeart/2011/layout/TabList"/>
    <dgm:cxn modelId="{E14A8113-20AA-4BEC-AF85-5D721870B497}" type="presParOf" srcId="{9C94349D-BB69-42E3-AAC5-549AEDDFD667}" destId="{B6A47D28-96E7-4664-99D6-629278766485}" srcOrd="1" destOrd="0" presId="urn:microsoft.com/office/officeart/2011/layout/TabList"/>
    <dgm:cxn modelId="{7AE4D445-EF6E-45FF-A2BC-DD2AA016F9C9}" type="presParOf" srcId="{9C94349D-BB69-42E3-AAC5-549AEDDFD667}" destId="{8DFF0FEE-DC4D-4CB0-AADC-B1B23647BD5B}" srcOrd="2" destOrd="0" presId="urn:microsoft.com/office/officeart/2011/layout/TabList"/>
    <dgm:cxn modelId="{B66E106E-5672-4F1F-9BB9-8B867E264F61}" type="presParOf" srcId="{9C94349D-BB69-42E3-AAC5-549AEDDFD667}" destId="{C4CA8170-921E-4797-A8D4-804FA17EC857}" srcOrd="3" destOrd="0" presId="urn:microsoft.com/office/officeart/2011/layout/TabList"/>
    <dgm:cxn modelId="{9CF0993A-0AEF-4541-81CC-4972232281FC}" type="presParOf" srcId="{C4CA8170-921E-4797-A8D4-804FA17EC857}" destId="{8973A94C-D163-4EFF-A20B-527DFC21FF8D}" srcOrd="0" destOrd="0" presId="urn:microsoft.com/office/officeart/2011/layout/TabList"/>
    <dgm:cxn modelId="{9AFCB41E-92FB-4D74-8512-A237AC295121}" type="presParOf" srcId="{C4CA8170-921E-4797-A8D4-804FA17EC857}" destId="{6E2F2181-A898-4303-805F-05C7F4A8D238}" srcOrd="1" destOrd="0" presId="urn:microsoft.com/office/officeart/2011/layout/TabList"/>
    <dgm:cxn modelId="{BE49EECD-78E9-4DBD-8327-D891BE60004B}" type="presParOf" srcId="{C4CA8170-921E-4797-A8D4-804FA17EC857}" destId="{72AB931F-CE4F-4060-B384-2E678C36B7B8}" srcOrd="2" destOrd="0" presId="urn:microsoft.com/office/officeart/2011/layout/TabList"/>
    <dgm:cxn modelId="{9D25AC66-D1E0-40C5-BFD4-F2CC3366E85D}" type="presParOf" srcId="{9C94349D-BB69-42E3-AAC5-549AEDDFD667}" destId="{D00F1D52-9194-402F-B74E-ECEE13A0E267}" srcOrd="4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FA5FC1-F372-4139-B58B-D620C753512E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275772-6BE4-4301-BA7A-7DB5853E61ED}">
      <dgm:prSet phldrT="[Text]" phldr="0"/>
      <dgm:spPr/>
      <dgm:t>
        <a:bodyPr/>
        <a:lstStyle/>
        <a:p>
          <a:r>
            <a:rPr lang="en-US" dirty="0"/>
            <a:t>Validation</a:t>
          </a:r>
        </a:p>
      </dgm:t>
    </dgm:pt>
    <dgm:pt modelId="{1FA33D03-9A8B-48E8-9231-2382E6A9AA48}" type="parTrans" cxnId="{8A88029A-9134-4983-9E7E-86B2B0538FAE}">
      <dgm:prSet/>
      <dgm:spPr/>
      <dgm:t>
        <a:bodyPr/>
        <a:lstStyle/>
        <a:p>
          <a:endParaRPr lang="en-US"/>
        </a:p>
      </dgm:t>
    </dgm:pt>
    <dgm:pt modelId="{4E295306-609B-47EF-8AE1-62D3D9572E7C}" type="sibTrans" cxnId="{8A88029A-9134-4983-9E7E-86B2B0538FAE}">
      <dgm:prSet/>
      <dgm:spPr/>
      <dgm:t>
        <a:bodyPr/>
        <a:lstStyle/>
        <a:p>
          <a:endParaRPr lang="en-US"/>
        </a:p>
      </dgm:t>
    </dgm:pt>
    <dgm:pt modelId="{3B8FF499-1952-46F0-AF23-55170D6AC288}">
      <dgm:prSet phldrT="[Text]"/>
      <dgm:spPr/>
      <dgm:t>
        <a:bodyPr/>
        <a:lstStyle/>
        <a:p>
          <a:pPr>
            <a:buNone/>
          </a:pPr>
          <a:r>
            <a:rPr lang="en-US" dirty="0"/>
            <a:t>BOC k-eff = 1.04916 (within benchmark spread); reactivity swing = −2415 </a:t>
          </a:r>
          <a:r>
            <a:rPr lang="en-US" dirty="0" err="1"/>
            <a:t>pcm</a:t>
          </a:r>
          <a:r>
            <a:rPr lang="en-US" dirty="0"/>
            <a:t> vs. −2210 ± 422 </a:t>
          </a:r>
          <a:r>
            <a:rPr lang="en-US" dirty="0" err="1"/>
            <a:t>pcm</a:t>
          </a:r>
          <a:r>
            <a:rPr lang="en-US" dirty="0"/>
            <a:t> benchmark mean; TRU consumption = 94.8 kg/year.</a:t>
          </a:r>
        </a:p>
      </dgm:t>
    </dgm:pt>
    <dgm:pt modelId="{09F56F24-A38E-4A4A-BA80-63CCBF0EABC9}" type="parTrans" cxnId="{BD86F654-1EB7-4AE0-AED9-EB4F4CC441FF}">
      <dgm:prSet/>
      <dgm:spPr/>
      <dgm:t>
        <a:bodyPr/>
        <a:lstStyle/>
        <a:p>
          <a:endParaRPr lang="en-US"/>
        </a:p>
      </dgm:t>
    </dgm:pt>
    <dgm:pt modelId="{BF28D8B8-7B54-42A1-AB97-206386056A1B}" type="sibTrans" cxnId="{BD86F654-1EB7-4AE0-AED9-EB4F4CC441FF}">
      <dgm:prSet/>
      <dgm:spPr/>
      <dgm:t>
        <a:bodyPr/>
        <a:lstStyle/>
        <a:p>
          <a:endParaRPr lang="en-US"/>
        </a:p>
      </dgm:t>
    </dgm:pt>
    <dgm:pt modelId="{55F41234-4E0C-4BFB-B556-267410D5C4A2}">
      <dgm:prSet phldrT="[Text]" phldr="0"/>
      <dgm:spPr/>
      <dgm:t>
        <a:bodyPr/>
        <a:lstStyle/>
        <a:p>
          <a:r>
            <a:rPr lang="en-US" dirty="0"/>
            <a:t>Biases</a:t>
          </a:r>
        </a:p>
      </dgm:t>
    </dgm:pt>
    <dgm:pt modelId="{62967874-34FC-4B34-8D16-97506C8A3BB4}" type="parTrans" cxnId="{3A0C0BBF-80C2-4DAC-8C1D-4B44C2DD073A}">
      <dgm:prSet/>
      <dgm:spPr/>
      <dgm:t>
        <a:bodyPr/>
        <a:lstStyle/>
        <a:p>
          <a:endParaRPr lang="en-US"/>
        </a:p>
      </dgm:t>
    </dgm:pt>
    <dgm:pt modelId="{ED854823-A001-4D74-8DEC-DB6B45165579}" type="sibTrans" cxnId="{3A0C0BBF-80C2-4DAC-8C1D-4B44C2DD073A}">
      <dgm:prSet/>
      <dgm:spPr/>
      <dgm:t>
        <a:bodyPr/>
        <a:lstStyle/>
        <a:p>
          <a:endParaRPr lang="en-US"/>
        </a:p>
      </dgm:t>
    </dgm:pt>
    <dgm:pt modelId="{A499476A-5B75-4D7C-8930-176D428E42C8}">
      <dgm:prSet phldrT="[Text]"/>
      <dgm:spPr/>
      <dgm:t>
        <a:bodyPr/>
        <a:lstStyle/>
        <a:p>
          <a:pPr>
            <a:buNone/>
          </a:pPr>
          <a:r>
            <a:rPr lang="en-US" dirty="0"/>
            <a:t>Cylindrical homogenization, ENDF / B-VIII.0 vs. JEFF-3.1 / ENDF / B-VII.0 library differences, and natural Mo pseudo-fission product surrogate.</a:t>
          </a:r>
        </a:p>
      </dgm:t>
    </dgm:pt>
    <dgm:pt modelId="{3B4045EF-CE96-4B89-9ED9-46DDAD776209}" type="parTrans" cxnId="{1CFF30B1-582E-4FC7-A4A4-8653153F1065}">
      <dgm:prSet/>
      <dgm:spPr/>
      <dgm:t>
        <a:bodyPr/>
        <a:lstStyle/>
        <a:p>
          <a:endParaRPr lang="en-US"/>
        </a:p>
      </dgm:t>
    </dgm:pt>
    <dgm:pt modelId="{99CD5194-7C86-4E73-B526-A3FB393CB476}" type="sibTrans" cxnId="{1CFF30B1-582E-4FC7-A4A4-8653153F1065}">
      <dgm:prSet/>
      <dgm:spPr/>
      <dgm:t>
        <a:bodyPr/>
        <a:lstStyle/>
        <a:p>
          <a:endParaRPr lang="en-US"/>
        </a:p>
      </dgm:t>
    </dgm:pt>
    <dgm:pt modelId="{AB3DD571-63CC-4331-ACC6-AB135D393800}">
      <dgm:prSet phldrT="[Text]" phldr="0"/>
      <dgm:spPr/>
      <dgm:t>
        <a:bodyPr/>
        <a:lstStyle/>
        <a:p>
          <a:r>
            <a:rPr lang="en-US" dirty="0"/>
            <a:t>Next Steps</a:t>
          </a:r>
        </a:p>
      </dgm:t>
    </dgm:pt>
    <dgm:pt modelId="{AD8349A9-EE46-4460-8BBB-DDF4543D5F44}" type="parTrans" cxnId="{0397B546-67A9-488A-B412-9635FB930844}">
      <dgm:prSet/>
      <dgm:spPr/>
      <dgm:t>
        <a:bodyPr/>
        <a:lstStyle/>
        <a:p>
          <a:endParaRPr lang="en-US"/>
        </a:p>
      </dgm:t>
    </dgm:pt>
    <dgm:pt modelId="{B1C774C9-7A55-418A-9109-B2C0AE599C03}" type="sibTrans" cxnId="{0397B546-67A9-488A-B412-9635FB930844}">
      <dgm:prSet/>
      <dgm:spPr/>
      <dgm:t>
        <a:bodyPr/>
        <a:lstStyle/>
        <a:p>
          <a:endParaRPr lang="en-US"/>
        </a:p>
      </dgm:t>
    </dgm:pt>
    <dgm:pt modelId="{671ED917-27CC-49A9-8D74-6CCC37350D63}">
      <dgm:prSet phldrT="[Text]"/>
      <dgm:spPr/>
      <dgm:t>
        <a:bodyPr/>
        <a:lstStyle/>
        <a:p>
          <a:pPr>
            <a:buNone/>
          </a:pPr>
          <a:r>
            <a:rPr lang="en-US" dirty="0"/>
            <a:t>Full hexagonal lattice; explicit fission product chain; multi-cycle equilibrium analysis; increased particle statistics (≥100,000/step).</a:t>
          </a:r>
        </a:p>
      </dgm:t>
    </dgm:pt>
    <dgm:pt modelId="{B7248443-293F-4C38-874E-947C0763A744}" type="parTrans" cxnId="{C6A9F22A-FC6E-4907-BD00-C694251A0E94}">
      <dgm:prSet/>
      <dgm:spPr/>
      <dgm:t>
        <a:bodyPr/>
        <a:lstStyle/>
        <a:p>
          <a:endParaRPr lang="en-US"/>
        </a:p>
      </dgm:t>
    </dgm:pt>
    <dgm:pt modelId="{85560D0D-51BE-4D4B-8033-DE6EB13B0D9B}" type="sibTrans" cxnId="{C6A9F22A-FC6E-4907-BD00-C694251A0E94}">
      <dgm:prSet/>
      <dgm:spPr/>
      <dgm:t>
        <a:bodyPr/>
        <a:lstStyle/>
        <a:p>
          <a:endParaRPr lang="en-US"/>
        </a:p>
      </dgm:t>
    </dgm:pt>
    <dgm:pt modelId="{45E922CD-81A1-4C18-84A3-802D65E8DC8E}" type="pres">
      <dgm:prSet presAssocID="{66FA5FC1-F372-4139-B58B-D620C753512E}" presName="linearFlow" presStyleCnt="0">
        <dgm:presLayoutVars>
          <dgm:dir/>
          <dgm:animLvl val="lvl"/>
          <dgm:resizeHandles/>
        </dgm:presLayoutVars>
      </dgm:prSet>
      <dgm:spPr/>
    </dgm:pt>
    <dgm:pt modelId="{9D07C3B0-0F53-49E3-BE9E-0386B7936A31}" type="pres">
      <dgm:prSet presAssocID="{07275772-6BE4-4301-BA7A-7DB5853E61ED}" presName="compositeNode" presStyleCnt="0">
        <dgm:presLayoutVars>
          <dgm:bulletEnabled val="1"/>
        </dgm:presLayoutVars>
      </dgm:prSet>
      <dgm:spPr/>
    </dgm:pt>
    <dgm:pt modelId="{02D797AC-6F85-47F3-9649-0B41CB777938}" type="pres">
      <dgm:prSet presAssocID="{07275772-6BE4-4301-BA7A-7DB5853E61ED}" presName="imag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Tick with solid fill"/>
        </a:ext>
      </dgm:extLst>
    </dgm:pt>
    <dgm:pt modelId="{B4B5E26C-F3D8-44CC-8A87-84AA146BBFBF}" type="pres">
      <dgm:prSet presAssocID="{07275772-6BE4-4301-BA7A-7DB5853E61ED}" presName="childNode" presStyleLbl="node1" presStyleIdx="0" presStyleCnt="3">
        <dgm:presLayoutVars>
          <dgm:bulletEnabled val="1"/>
        </dgm:presLayoutVars>
      </dgm:prSet>
      <dgm:spPr/>
    </dgm:pt>
    <dgm:pt modelId="{9280688D-A40D-44E3-A635-A0CB36FD5770}" type="pres">
      <dgm:prSet presAssocID="{07275772-6BE4-4301-BA7A-7DB5853E61ED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3FADE581-75E9-41E8-9066-A49C7F2A170D}" type="pres">
      <dgm:prSet presAssocID="{4E295306-609B-47EF-8AE1-62D3D9572E7C}" presName="sibTrans" presStyleCnt="0"/>
      <dgm:spPr/>
    </dgm:pt>
    <dgm:pt modelId="{8FE5D44C-65F7-4A90-B23C-8233D74C4929}" type="pres">
      <dgm:prSet presAssocID="{55F41234-4E0C-4BFB-B556-267410D5C4A2}" presName="compositeNode" presStyleCnt="0">
        <dgm:presLayoutVars>
          <dgm:bulletEnabled val="1"/>
        </dgm:presLayoutVars>
      </dgm:prSet>
      <dgm:spPr/>
    </dgm:pt>
    <dgm:pt modelId="{6B8027D0-5DBA-4378-BD46-13843D3C22A0}" type="pres">
      <dgm:prSet presAssocID="{55F41234-4E0C-4BFB-B556-267410D5C4A2}" presName="image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4BB5EA95-F8D4-4659-9FB5-E8F90305EEBF}" type="pres">
      <dgm:prSet presAssocID="{55F41234-4E0C-4BFB-B556-267410D5C4A2}" presName="childNode" presStyleLbl="node1" presStyleIdx="1" presStyleCnt="3">
        <dgm:presLayoutVars>
          <dgm:bulletEnabled val="1"/>
        </dgm:presLayoutVars>
      </dgm:prSet>
      <dgm:spPr/>
    </dgm:pt>
    <dgm:pt modelId="{43F53C9F-DDAB-4833-B48F-55234BCF382B}" type="pres">
      <dgm:prSet presAssocID="{55F41234-4E0C-4BFB-B556-267410D5C4A2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12C43A7A-4CB9-4154-8E90-ECD1B768101A}" type="pres">
      <dgm:prSet presAssocID="{ED854823-A001-4D74-8DEC-DB6B45165579}" presName="sibTrans" presStyleCnt="0"/>
      <dgm:spPr/>
    </dgm:pt>
    <dgm:pt modelId="{07169272-762F-4DBA-A49C-CC7302E87087}" type="pres">
      <dgm:prSet presAssocID="{AB3DD571-63CC-4331-ACC6-AB135D393800}" presName="compositeNode" presStyleCnt="0">
        <dgm:presLayoutVars>
          <dgm:bulletEnabled val="1"/>
        </dgm:presLayoutVars>
      </dgm:prSet>
      <dgm:spPr/>
    </dgm:pt>
    <dgm:pt modelId="{489710EB-1AA5-4726-8C1A-9D5929FF3B0B}" type="pres">
      <dgm:prSet presAssocID="{AB3DD571-63CC-4331-ACC6-AB135D393800}" presName="imag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B4DF7739-FA82-4D81-9CC9-6836AA441FC2}" type="pres">
      <dgm:prSet presAssocID="{AB3DD571-63CC-4331-ACC6-AB135D393800}" presName="childNode" presStyleLbl="node1" presStyleIdx="2" presStyleCnt="3">
        <dgm:presLayoutVars>
          <dgm:bulletEnabled val="1"/>
        </dgm:presLayoutVars>
      </dgm:prSet>
      <dgm:spPr/>
    </dgm:pt>
    <dgm:pt modelId="{590C8FB0-02ED-4539-B21A-C29F77851A0B}" type="pres">
      <dgm:prSet presAssocID="{AB3DD571-63CC-4331-ACC6-AB135D393800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BAC93927-3D61-4931-9EC3-CC121A2267F0}" type="presOf" srcId="{55F41234-4E0C-4BFB-B556-267410D5C4A2}" destId="{43F53C9F-DDAB-4833-B48F-55234BCF382B}" srcOrd="0" destOrd="0" presId="urn:microsoft.com/office/officeart/2005/8/layout/hList2"/>
    <dgm:cxn modelId="{C6A9F22A-FC6E-4907-BD00-C694251A0E94}" srcId="{AB3DD571-63CC-4331-ACC6-AB135D393800}" destId="{671ED917-27CC-49A9-8D74-6CCC37350D63}" srcOrd="0" destOrd="0" parTransId="{B7248443-293F-4C38-874E-947C0763A744}" sibTransId="{85560D0D-51BE-4D4B-8033-DE6EB13B0D9B}"/>
    <dgm:cxn modelId="{0397B546-67A9-488A-B412-9635FB930844}" srcId="{66FA5FC1-F372-4139-B58B-D620C753512E}" destId="{AB3DD571-63CC-4331-ACC6-AB135D393800}" srcOrd="2" destOrd="0" parTransId="{AD8349A9-EE46-4460-8BBB-DDF4543D5F44}" sibTransId="{B1C774C9-7A55-418A-9109-B2C0AE599C03}"/>
    <dgm:cxn modelId="{CCB5BA4A-2DB1-4433-923A-FB30550DD452}" type="presOf" srcId="{A499476A-5B75-4D7C-8930-176D428E42C8}" destId="{4BB5EA95-F8D4-4659-9FB5-E8F90305EEBF}" srcOrd="0" destOrd="0" presId="urn:microsoft.com/office/officeart/2005/8/layout/hList2"/>
    <dgm:cxn modelId="{10AF6374-536B-4506-8886-10E8859ECC40}" type="presOf" srcId="{07275772-6BE4-4301-BA7A-7DB5853E61ED}" destId="{9280688D-A40D-44E3-A635-A0CB36FD5770}" srcOrd="0" destOrd="0" presId="urn:microsoft.com/office/officeart/2005/8/layout/hList2"/>
    <dgm:cxn modelId="{BD86F654-1EB7-4AE0-AED9-EB4F4CC441FF}" srcId="{07275772-6BE4-4301-BA7A-7DB5853E61ED}" destId="{3B8FF499-1952-46F0-AF23-55170D6AC288}" srcOrd="0" destOrd="0" parTransId="{09F56F24-A38E-4A4A-BA80-63CCBF0EABC9}" sibTransId="{BF28D8B8-7B54-42A1-AB97-206386056A1B}"/>
    <dgm:cxn modelId="{490E6E59-6F3F-42B8-96FC-D25E2588EB14}" type="presOf" srcId="{3B8FF499-1952-46F0-AF23-55170D6AC288}" destId="{B4B5E26C-F3D8-44CC-8A87-84AA146BBFBF}" srcOrd="0" destOrd="0" presId="urn:microsoft.com/office/officeart/2005/8/layout/hList2"/>
    <dgm:cxn modelId="{8A88029A-9134-4983-9E7E-86B2B0538FAE}" srcId="{66FA5FC1-F372-4139-B58B-D620C753512E}" destId="{07275772-6BE4-4301-BA7A-7DB5853E61ED}" srcOrd="0" destOrd="0" parTransId="{1FA33D03-9A8B-48E8-9231-2382E6A9AA48}" sibTransId="{4E295306-609B-47EF-8AE1-62D3D9572E7C}"/>
    <dgm:cxn modelId="{4B47DDA6-683E-449C-B698-ED8902E805C7}" type="presOf" srcId="{66FA5FC1-F372-4139-B58B-D620C753512E}" destId="{45E922CD-81A1-4C18-84A3-802D65E8DC8E}" srcOrd="0" destOrd="0" presId="urn:microsoft.com/office/officeart/2005/8/layout/hList2"/>
    <dgm:cxn modelId="{1CFF30B1-582E-4FC7-A4A4-8653153F1065}" srcId="{55F41234-4E0C-4BFB-B556-267410D5C4A2}" destId="{A499476A-5B75-4D7C-8930-176D428E42C8}" srcOrd="0" destOrd="0" parTransId="{3B4045EF-CE96-4B89-9ED9-46DDAD776209}" sibTransId="{99CD5194-7C86-4E73-B526-A3FB393CB476}"/>
    <dgm:cxn modelId="{EE353CB2-4158-4369-B060-63A419835EB5}" type="presOf" srcId="{671ED917-27CC-49A9-8D74-6CCC37350D63}" destId="{B4DF7739-FA82-4D81-9CC9-6836AA441FC2}" srcOrd="0" destOrd="0" presId="urn:microsoft.com/office/officeart/2005/8/layout/hList2"/>
    <dgm:cxn modelId="{3A0C0BBF-80C2-4DAC-8C1D-4B44C2DD073A}" srcId="{66FA5FC1-F372-4139-B58B-D620C753512E}" destId="{55F41234-4E0C-4BFB-B556-267410D5C4A2}" srcOrd="1" destOrd="0" parTransId="{62967874-34FC-4B34-8D16-97506C8A3BB4}" sibTransId="{ED854823-A001-4D74-8DEC-DB6B45165579}"/>
    <dgm:cxn modelId="{EFF402FA-82D4-43D4-AB68-F6DE3E2874FF}" type="presOf" srcId="{AB3DD571-63CC-4331-ACC6-AB135D393800}" destId="{590C8FB0-02ED-4539-B21A-C29F77851A0B}" srcOrd="0" destOrd="0" presId="urn:microsoft.com/office/officeart/2005/8/layout/hList2"/>
    <dgm:cxn modelId="{143F815B-55AF-47D7-9DFA-4F4BA5FE947C}" type="presParOf" srcId="{45E922CD-81A1-4C18-84A3-802D65E8DC8E}" destId="{9D07C3B0-0F53-49E3-BE9E-0386B7936A31}" srcOrd="0" destOrd="0" presId="urn:microsoft.com/office/officeart/2005/8/layout/hList2"/>
    <dgm:cxn modelId="{A5B03BF2-D0D9-4D36-B7DA-A1998B95D145}" type="presParOf" srcId="{9D07C3B0-0F53-49E3-BE9E-0386B7936A31}" destId="{02D797AC-6F85-47F3-9649-0B41CB777938}" srcOrd="0" destOrd="0" presId="urn:microsoft.com/office/officeart/2005/8/layout/hList2"/>
    <dgm:cxn modelId="{EA5F4963-CB51-4007-AF43-E2D412BE5143}" type="presParOf" srcId="{9D07C3B0-0F53-49E3-BE9E-0386B7936A31}" destId="{B4B5E26C-F3D8-44CC-8A87-84AA146BBFBF}" srcOrd="1" destOrd="0" presId="urn:microsoft.com/office/officeart/2005/8/layout/hList2"/>
    <dgm:cxn modelId="{A5C1E4FA-B0C9-4076-AA8D-93595E84BB7C}" type="presParOf" srcId="{9D07C3B0-0F53-49E3-BE9E-0386B7936A31}" destId="{9280688D-A40D-44E3-A635-A0CB36FD5770}" srcOrd="2" destOrd="0" presId="urn:microsoft.com/office/officeart/2005/8/layout/hList2"/>
    <dgm:cxn modelId="{905777DD-0C73-42D1-848F-00761CD78FC5}" type="presParOf" srcId="{45E922CD-81A1-4C18-84A3-802D65E8DC8E}" destId="{3FADE581-75E9-41E8-9066-A49C7F2A170D}" srcOrd="1" destOrd="0" presId="urn:microsoft.com/office/officeart/2005/8/layout/hList2"/>
    <dgm:cxn modelId="{915FD6E5-0140-43E9-B06E-A5989643EA6E}" type="presParOf" srcId="{45E922CD-81A1-4C18-84A3-802D65E8DC8E}" destId="{8FE5D44C-65F7-4A90-B23C-8233D74C4929}" srcOrd="2" destOrd="0" presId="urn:microsoft.com/office/officeart/2005/8/layout/hList2"/>
    <dgm:cxn modelId="{01B1B37D-A8F9-4C09-B54A-DAD7B0BD7809}" type="presParOf" srcId="{8FE5D44C-65F7-4A90-B23C-8233D74C4929}" destId="{6B8027D0-5DBA-4378-BD46-13843D3C22A0}" srcOrd="0" destOrd="0" presId="urn:microsoft.com/office/officeart/2005/8/layout/hList2"/>
    <dgm:cxn modelId="{4B4BD73F-295C-4344-84C7-EDD60BEC87B3}" type="presParOf" srcId="{8FE5D44C-65F7-4A90-B23C-8233D74C4929}" destId="{4BB5EA95-F8D4-4659-9FB5-E8F90305EEBF}" srcOrd="1" destOrd="0" presId="urn:microsoft.com/office/officeart/2005/8/layout/hList2"/>
    <dgm:cxn modelId="{91044253-054B-42CA-9758-500D3CF7E92B}" type="presParOf" srcId="{8FE5D44C-65F7-4A90-B23C-8233D74C4929}" destId="{43F53C9F-DDAB-4833-B48F-55234BCF382B}" srcOrd="2" destOrd="0" presId="urn:microsoft.com/office/officeart/2005/8/layout/hList2"/>
    <dgm:cxn modelId="{C8601093-95CB-4AB5-BDC0-BB6D64AC6A0D}" type="presParOf" srcId="{45E922CD-81A1-4C18-84A3-802D65E8DC8E}" destId="{12C43A7A-4CB9-4154-8E90-ECD1B768101A}" srcOrd="3" destOrd="0" presId="urn:microsoft.com/office/officeart/2005/8/layout/hList2"/>
    <dgm:cxn modelId="{BE30C4D7-5B61-4324-9DE6-5371DBB6B298}" type="presParOf" srcId="{45E922CD-81A1-4C18-84A3-802D65E8DC8E}" destId="{07169272-762F-4DBA-A49C-CC7302E87087}" srcOrd="4" destOrd="0" presId="urn:microsoft.com/office/officeart/2005/8/layout/hList2"/>
    <dgm:cxn modelId="{7AFAE5B4-32DB-400F-BA8F-A3BF321907B7}" type="presParOf" srcId="{07169272-762F-4DBA-A49C-CC7302E87087}" destId="{489710EB-1AA5-4726-8C1A-9D5929FF3B0B}" srcOrd="0" destOrd="0" presId="urn:microsoft.com/office/officeart/2005/8/layout/hList2"/>
    <dgm:cxn modelId="{547A98E3-30BB-4800-8007-0BCCC159C46A}" type="presParOf" srcId="{07169272-762F-4DBA-A49C-CC7302E87087}" destId="{B4DF7739-FA82-4D81-9CC9-6836AA441FC2}" srcOrd="1" destOrd="0" presId="urn:microsoft.com/office/officeart/2005/8/layout/hList2"/>
    <dgm:cxn modelId="{3747A5CF-40E0-4480-9689-D6C69EF5A272}" type="presParOf" srcId="{07169272-762F-4DBA-A49C-CC7302E87087}" destId="{590C8FB0-02ED-4539-B21A-C29F77851A0B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ACF39-86CC-487F-9F44-F90CF0DC226D}">
      <dsp:nvSpPr>
        <dsp:cNvPr id="0" name=""/>
        <dsp:cNvSpPr/>
      </dsp:nvSpPr>
      <dsp:spPr>
        <a:xfrm>
          <a:off x="3286" y="233004"/>
          <a:ext cx="3203971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What is </a:t>
          </a:r>
          <a:r>
            <a:rPr lang="en-US" sz="2500" kern="1200"/>
            <a:t>it?</a:t>
          </a:r>
          <a:endParaRPr lang="en-US" sz="2500" kern="1200" dirty="0"/>
        </a:p>
      </dsp:txBody>
      <dsp:txXfrm>
        <a:off x="3286" y="233004"/>
        <a:ext cx="3203971" cy="720000"/>
      </dsp:txXfrm>
    </dsp:sp>
    <dsp:sp modelId="{D5365B18-8A7A-4E33-A419-712AB4BAF255}">
      <dsp:nvSpPr>
        <dsp:cNvPr id="0" name=""/>
        <dsp:cNvSpPr/>
      </dsp:nvSpPr>
      <dsp:spPr>
        <a:xfrm>
          <a:off x="3286" y="953004"/>
          <a:ext cx="3203971" cy="31653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 dirty="0"/>
            <a:t>1000 </a:t>
          </a:r>
          <a:r>
            <a:rPr lang="en-US" sz="2500" kern="1200" dirty="0" err="1"/>
            <a:t>MWt</a:t>
          </a:r>
          <a:r>
            <a:rPr lang="en-US" sz="2500" kern="1200" dirty="0"/>
            <a:t> pool-type sodium-cooled fast reactor (SFR) developed by Argonne National Laboratory under the GNEP program.</a:t>
          </a:r>
        </a:p>
      </dsp:txBody>
      <dsp:txXfrm>
        <a:off x="3286" y="953004"/>
        <a:ext cx="3203971" cy="3165328"/>
      </dsp:txXfrm>
    </dsp:sp>
    <dsp:sp modelId="{E1C2A5B7-EB62-433F-BACD-E65AC04AA40E}">
      <dsp:nvSpPr>
        <dsp:cNvPr id="0" name=""/>
        <dsp:cNvSpPr/>
      </dsp:nvSpPr>
      <dsp:spPr>
        <a:xfrm>
          <a:off x="3655814" y="233004"/>
          <a:ext cx="3203971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Why it matters</a:t>
          </a:r>
        </a:p>
      </dsp:txBody>
      <dsp:txXfrm>
        <a:off x="3655814" y="233004"/>
        <a:ext cx="3203971" cy="720000"/>
      </dsp:txXfrm>
    </dsp:sp>
    <dsp:sp modelId="{FE8A7D43-4F1F-455D-8378-A43B2AD993FF}">
      <dsp:nvSpPr>
        <dsp:cNvPr id="0" name=""/>
        <dsp:cNvSpPr/>
      </dsp:nvSpPr>
      <dsp:spPr>
        <a:xfrm>
          <a:off x="3655814" y="953004"/>
          <a:ext cx="3203971" cy="31653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 dirty="0"/>
            <a:t>SFRs efficiently fission transuranic (TRU) isotopes from LWR spent fuel, reducing long-term radiotoxicity and heat load of nuclear </a:t>
          </a:r>
          <a:r>
            <a:rPr lang="en-US" sz="2500" kern="1200"/>
            <a:t>waste.</a:t>
          </a:r>
          <a:endParaRPr lang="en-US" sz="2500" kern="1200" dirty="0"/>
        </a:p>
      </dsp:txBody>
      <dsp:txXfrm>
        <a:off x="3655814" y="953004"/>
        <a:ext cx="3203971" cy="3165328"/>
      </dsp:txXfrm>
    </dsp:sp>
    <dsp:sp modelId="{E02BA941-4E3D-4AC7-A33A-83ED7A548246}">
      <dsp:nvSpPr>
        <dsp:cNvPr id="0" name=""/>
        <dsp:cNvSpPr/>
      </dsp:nvSpPr>
      <dsp:spPr>
        <a:xfrm>
          <a:off x="7308342" y="233004"/>
          <a:ext cx="3203971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Target Performance</a:t>
          </a:r>
        </a:p>
      </dsp:txBody>
      <dsp:txXfrm>
        <a:off x="7308342" y="233004"/>
        <a:ext cx="3203971" cy="720000"/>
      </dsp:txXfrm>
    </dsp:sp>
    <dsp:sp modelId="{C948C635-02C6-4BA6-9D40-254202CA72C5}">
      <dsp:nvSpPr>
        <dsp:cNvPr id="0" name=""/>
        <dsp:cNvSpPr/>
      </dsp:nvSpPr>
      <dsp:spPr>
        <a:xfrm>
          <a:off x="7308342" y="953004"/>
          <a:ext cx="3203971" cy="31653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 dirty="0"/>
            <a:t>Closed fuel cycle with recycled metallic U-TRU-Zr fuel and a target TRU conversion ratio of ~0.7 over a 328.5 EFPD </a:t>
          </a:r>
          <a:r>
            <a:rPr lang="en-US" sz="2500" kern="1200"/>
            <a:t>cycle.</a:t>
          </a:r>
          <a:endParaRPr lang="en-US" sz="2500" kern="1200" dirty="0"/>
        </a:p>
      </dsp:txBody>
      <dsp:txXfrm>
        <a:off x="7308342" y="953004"/>
        <a:ext cx="3203971" cy="31653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162603-9E15-4E5A-80F8-76B7E8A48FDC}">
      <dsp:nvSpPr>
        <dsp:cNvPr id="0" name=""/>
        <dsp:cNvSpPr/>
      </dsp:nvSpPr>
      <dsp:spPr>
        <a:xfrm>
          <a:off x="3953" y="290422"/>
          <a:ext cx="2377306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Nuclear Data</a:t>
          </a:r>
        </a:p>
      </dsp:txBody>
      <dsp:txXfrm>
        <a:off x="3953" y="290422"/>
        <a:ext cx="2377306" cy="576000"/>
      </dsp:txXfrm>
    </dsp:sp>
    <dsp:sp modelId="{EF0EB6E9-BCA5-46D6-9FFE-1C3AF5BC8CAF}">
      <dsp:nvSpPr>
        <dsp:cNvPr id="0" name=""/>
        <dsp:cNvSpPr/>
      </dsp:nvSpPr>
      <dsp:spPr>
        <a:xfrm>
          <a:off x="3953" y="866422"/>
          <a:ext cx="2377306" cy="31944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ENDF/B-VIII.0 continuous-energy cross sections;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 err="1"/>
            <a:t>T</a:t>
          </a:r>
          <a:r>
            <a:rPr lang="en-US" sz="2000" kern="1200" baseline="-25000" dirty="0" err="1"/>
            <a:t>fuel</a:t>
          </a:r>
          <a:r>
            <a:rPr lang="en-US" sz="2000" kern="1200" dirty="0"/>
            <a:t> = 807 K,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 err="1"/>
            <a:t>T</a:t>
          </a:r>
          <a:r>
            <a:rPr lang="en-US" sz="2000" kern="1200" baseline="-25000" dirty="0" err="1"/>
            <a:t>cool</a:t>
          </a:r>
          <a:r>
            <a:rPr lang="en-US" sz="2000" kern="1200" baseline="-25000" dirty="0"/>
            <a:t>/struct</a:t>
          </a:r>
          <a:r>
            <a:rPr lang="en-US" sz="2000" kern="1200" dirty="0"/>
            <a:t> = 706 K</a:t>
          </a:r>
        </a:p>
      </dsp:txBody>
      <dsp:txXfrm>
        <a:off x="3953" y="866422"/>
        <a:ext cx="2377306" cy="3194493"/>
      </dsp:txXfrm>
    </dsp:sp>
    <dsp:sp modelId="{DDE6876D-53B0-4B81-9A79-85EA02365997}">
      <dsp:nvSpPr>
        <dsp:cNvPr id="0" name=""/>
        <dsp:cNvSpPr/>
      </dsp:nvSpPr>
      <dsp:spPr>
        <a:xfrm>
          <a:off x="2714082" y="290422"/>
          <a:ext cx="2377306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Depletion Scheme</a:t>
          </a:r>
        </a:p>
      </dsp:txBody>
      <dsp:txXfrm>
        <a:off x="2714082" y="290422"/>
        <a:ext cx="2377306" cy="576000"/>
      </dsp:txXfrm>
    </dsp:sp>
    <dsp:sp modelId="{0DEB8DDE-6B58-43F0-8061-18AF55EBDAB1}">
      <dsp:nvSpPr>
        <dsp:cNvPr id="0" name=""/>
        <dsp:cNvSpPr/>
      </dsp:nvSpPr>
      <dsp:spPr>
        <a:xfrm>
          <a:off x="2714082" y="866422"/>
          <a:ext cx="2377306" cy="31944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CECM predictor-corrector integrator via </a:t>
          </a:r>
          <a:r>
            <a:rPr lang="en-US" sz="2000" kern="1200" dirty="0" err="1"/>
            <a:t>openmc.deplete</a:t>
          </a:r>
          <a:r>
            <a:rPr lang="en-US" sz="2000" kern="1200" dirty="0"/>
            <a:t>;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12 geometric timesteps spanning 328.5 EFPD;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 SFR transmutation chain.</a:t>
          </a:r>
        </a:p>
      </dsp:txBody>
      <dsp:txXfrm>
        <a:off x="2714082" y="866422"/>
        <a:ext cx="2377306" cy="3194493"/>
      </dsp:txXfrm>
    </dsp:sp>
    <dsp:sp modelId="{8667E346-49E9-4B73-AFEC-DA1F6FF839F8}">
      <dsp:nvSpPr>
        <dsp:cNvPr id="0" name=""/>
        <dsp:cNvSpPr/>
      </dsp:nvSpPr>
      <dsp:spPr>
        <a:xfrm>
          <a:off x="5424211" y="290422"/>
          <a:ext cx="2377306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Transport Settings</a:t>
          </a:r>
        </a:p>
      </dsp:txBody>
      <dsp:txXfrm>
        <a:off x="5424211" y="290422"/>
        <a:ext cx="2377306" cy="576000"/>
      </dsp:txXfrm>
    </dsp:sp>
    <dsp:sp modelId="{24029EAC-2CF7-4DBD-ACB5-96D5D3F75935}">
      <dsp:nvSpPr>
        <dsp:cNvPr id="0" name=""/>
        <dsp:cNvSpPr/>
      </dsp:nvSpPr>
      <dsp:spPr>
        <a:xfrm>
          <a:off x="5424211" y="866422"/>
          <a:ext cx="2377306" cy="31944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60 batches (20 inactive),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20,000 particles per batch;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20×20×20 Shannon entropy mesh for convergence.</a:t>
          </a:r>
        </a:p>
      </dsp:txBody>
      <dsp:txXfrm>
        <a:off x="5424211" y="866422"/>
        <a:ext cx="2377306" cy="3194493"/>
      </dsp:txXfrm>
    </dsp:sp>
    <dsp:sp modelId="{7BBF78E4-85B2-4813-884C-9D26DB8CAC9C}">
      <dsp:nvSpPr>
        <dsp:cNvPr id="0" name=""/>
        <dsp:cNvSpPr/>
      </dsp:nvSpPr>
      <dsp:spPr>
        <a:xfrm>
          <a:off x="8134340" y="290422"/>
          <a:ext cx="2377306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Tallies</a:t>
          </a:r>
        </a:p>
      </dsp:txBody>
      <dsp:txXfrm>
        <a:off x="8134340" y="290422"/>
        <a:ext cx="2377306" cy="576000"/>
      </dsp:txXfrm>
    </dsp:sp>
    <dsp:sp modelId="{4DA3B588-1CDF-49BF-98BE-562D3E10890C}">
      <dsp:nvSpPr>
        <dsp:cNvPr id="0" name=""/>
        <dsp:cNvSpPr/>
      </dsp:nvSpPr>
      <dsp:spPr>
        <a:xfrm>
          <a:off x="8134340" y="866422"/>
          <a:ext cx="2377306" cy="31944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8 tallies: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total/zone power,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neutron balance,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system leakage,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and 33-group spectral flux.</a:t>
          </a:r>
        </a:p>
      </dsp:txBody>
      <dsp:txXfrm>
        <a:off x="8134340" y="866422"/>
        <a:ext cx="2377306" cy="31944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AB931F-CE4F-4060-B384-2E678C36B7B8}">
      <dsp:nvSpPr>
        <dsp:cNvPr id="0" name=""/>
        <dsp:cNvSpPr/>
      </dsp:nvSpPr>
      <dsp:spPr>
        <a:xfrm>
          <a:off x="0" y="2920194"/>
          <a:ext cx="5281242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A3FFF-CEE8-4692-BED1-30E5551EACB5}">
      <dsp:nvSpPr>
        <dsp:cNvPr id="0" name=""/>
        <dsp:cNvSpPr/>
      </dsp:nvSpPr>
      <dsp:spPr>
        <a:xfrm>
          <a:off x="0" y="721852"/>
          <a:ext cx="5281242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5081A5-35C5-4A48-996C-46D7B2E56FFF}">
      <dsp:nvSpPr>
        <dsp:cNvPr id="0" name=""/>
        <dsp:cNvSpPr/>
      </dsp:nvSpPr>
      <dsp:spPr>
        <a:xfrm>
          <a:off x="1373122" y="1155"/>
          <a:ext cx="3908119" cy="720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b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kg/cycle</a:t>
          </a:r>
        </a:p>
      </dsp:txBody>
      <dsp:txXfrm>
        <a:off x="1373122" y="1155"/>
        <a:ext cx="3908119" cy="720697"/>
      </dsp:txXfrm>
    </dsp:sp>
    <dsp:sp modelId="{74DB980D-A5CF-4ED8-AEC7-CD175547972B}">
      <dsp:nvSpPr>
        <dsp:cNvPr id="0" name=""/>
        <dsp:cNvSpPr/>
      </dsp:nvSpPr>
      <dsp:spPr>
        <a:xfrm>
          <a:off x="0" y="1155"/>
          <a:ext cx="1373122" cy="72069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85.2</a:t>
          </a:r>
        </a:p>
      </dsp:txBody>
      <dsp:txXfrm>
        <a:off x="35188" y="36343"/>
        <a:ext cx="1302746" cy="685509"/>
      </dsp:txXfrm>
    </dsp:sp>
    <dsp:sp modelId="{B6A47D28-96E7-4664-99D6-629278766485}">
      <dsp:nvSpPr>
        <dsp:cNvPr id="0" name=""/>
        <dsp:cNvSpPr/>
      </dsp:nvSpPr>
      <dsp:spPr>
        <a:xfrm>
          <a:off x="0" y="721852"/>
          <a:ext cx="5281242" cy="1441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62865" rIns="62865" bIns="62865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TRU destroyed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2859.4 kg → 2774.2 kg</a:t>
          </a:r>
        </a:p>
      </dsp:txBody>
      <dsp:txXfrm>
        <a:off x="0" y="721852"/>
        <a:ext cx="5281242" cy="1441610"/>
      </dsp:txXfrm>
    </dsp:sp>
    <dsp:sp modelId="{8973A94C-D163-4EFF-A20B-527DFC21FF8D}">
      <dsp:nvSpPr>
        <dsp:cNvPr id="0" name=""/>
        <dsp:cNvSpPr/>
      </dsp:nvSpPr>
      <dsp:spPr>
        <a:xfrm>
          <a:off x="1373122" y="2199497"/>
          <a:ext cx="3908119" cy="720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b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kg/year</a:t>
          </a:r>
        </a:p>
      </dsp:txBody>
      <dsp:txXfrm>
        <a:off x="1373122" y="2199497"/>
        <a:ext cx="3908119" cy="720697"/>
      </dsp:txXfrm>
    </dsp:sp>
    <dsp:sp modelId="{6E2F2181-A898-4303-805F-05C7F4A8D238}">
      <dsp:nvSpPr>
        <dsp:cNvPr id="0" name=""/>
        <dsp:cNvSpPr/>
      </dsp:nvSpPr>
      <dsp:spPr>
        <a:xfrm>
          <a:off x="0" y="2199497"/>
          <a:ext cx="1373122" cy="72069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94.8</a:t>
          </a:r>
        </a:p>
      </dsp:txBody>
      <dsp:txXfrm>
        <a:off x="35188" y="2234685"/>
        <a:ext cx="1302746" cy="685509"/>
      </dsp:txXfrm>
    </dsp:sp>
    <dsp:sp modelId="{D00F1D52-9194-402F-B74E-ECEE13A0E267}">
      <dsp:nvSpPr>
        <dsp:cNvPr id="0" name=""/>
        <dsp:cNvSpPr/>
      </dsp:nvSpPr>
      <dsp:spPr>
        <a:xfrm>
          <a:off x="0" y="2920194"/>
          <a:ext cx="5281242" cy="1441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62865" rIns="62865" bIns="62865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TRU consumed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ANL reference: 81.6 kg/year (~16% elevated due to positive k-eff bias)</a:t>
          </a:r>
        </a:p>
      </dsp:txBody>
      <dsp:txXfrm>
        <a:off x="0" y="2920194"/>
        <a:ext cx="5281242" cy="14416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0688D-A40D-44E3-A635-A0CB36FD5770}">
      <dsp:nvSpPr>
        <dsp:cNvPr id="0" name=""/>
        <dsp:cNvSpPr/>
      </dsp:nvSpPr>
      <dsp:spPr>
        <a:xfrm rot="16200000">
          <a:off x="-1523610" y="2441354"/>
          <a:ext cx="3682474" cy="504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45347" bIns="0" numCol="1" spcCol="1270" anchor="t" anchorCtr="0">
          <a:noAutofit/>
        </a:bodyPr>
        <a:lstStyle/>
        <a:p>
          <a:pPr marL="0" lvl="0" indent="0" algn="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Validation</a:t>
          </a:r>
        </a:p>
      </dsp:txBody>
      <dsp:txXfrm>
        <a:off x="-1523610" y="2441354"/>
        <a:ext cx="3682474" cy="504959"/>
      </dsp:txXfrm>
    </dsp:sp>
    <dsp:sp modelId="{B4B5E26C-F3D8-44CC-8A87-84AA146BBFBF}">
      <dsp:nvSpPr>
        <dsp:cNvPr id="0" name=""/>
        <dsp:cNvSpPr/>
      </dsp:nvSpPr>
      <dsp:spPr>
        <a:xfrm>
          <a:off x="570106" y="852596"/>
          <a:ext cx="2515235" cy="3682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445347" rIns="170688" bIns="17068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BOC k-eff = 1.04916 (within benchmark spread); reactivity swing = −2415 </a:t>
          </a:r>
          <a:r>
            <a:rPr lang="en-US" sz="1900" kern="1200" dirty="0" err="1"/>
            <a:t>pcm</a:t>
          </a:r>
          <a:r>
            <a:rPr lang="en-US" sz="1900" kern="1200" dirty="0"/>
            <a:t> vs. −2210 ± 422 </a:t>
          </a:r>
          <a:r>
            <a:rPr lang="en-US" sz="1900" kern="1200" dirty="0" err="1"/>
            <a:t>pcm</a:t>
          </a:r>
          <a:r>
            <a:rPr lang="en-US" sz="1900" kern="1200" dirty="0"/>
            <a:t> benchmark mean; TRU consumption = 94.8 kg/year.</a:t>
          </a:r>
        </a:p>
      </dsp:txBody>
      <dsp:txXfrm>
        <a:off x="570106" y="852596"/>
        <a:ext cx="2515235" cy="3682474"/>
      </dsp:txXfrm>
    </dsp:sp>
    <dsp:sp modelId="{02D797AC-6F85-47F3-9649-0B41CB777938}">
      <dsp:nvSpPr>
        <dsp:cNvPr id="0" name=""/>
        <dsp:cNvSpPr/>
      </dsp:nvSpPr>
      <dsp:spPr>
        <a:xfrm>
          <a:off x="65147" y="186049"/>
          <a:ext cx="1009919" cy="100991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53C9F-DDAB-4833-B48F-55234BCF382B}">
      <dsp:nvSpPr>
        <dsp:cNvPr id="0" name=""/>
        <dsp:cNvSpPr/>
      </dsp:nvSpPr>
      <dsp:spPr>
        <a:xfrm rot="16200000">
          <a:off x="2158944" y="2441354"/>
          <a:ext cx="3682474" cy="504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45347" bIns="0" numCol="1" spcCol="1270" anchor="t" anchorCtr="0">
          <a:noAutofit/>
        </a:bodyPr>
        <a:lstStyle/>
        <a:p>
          <a:pPr marL="0" lvl="0" indent="0" algn="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Biases</a:t>
          </a:r>
        </a:p>
      </dsp:txBody>
      <dsp:txXfrm>
        <a:off x="2158944" y="2441354"/>
        <a:ext cx="3682474" cy="504959"/>
      </dsp:txXfrm>
    </dsp:sp>
    <dsp:sp modelId="{4BB5EA95-F8D4-4659-9FB5-E8F90305EEBF}">
      <dsp:nvSpPr>
        <dsp:cNvPr id="0" name=""/>
        <dsp:cNvSpPr/>
      </dsp:nvSpPr>
      <dsp:spPr>
        <a:xfrm>
          <a:off x="4252662" y="852596"/>
          <a:ext cx="2515235" cy="3682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445347" rIns="170688" bIns="17068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Cylindrical homogenization, ENDF / B-VIII.0 vs. JEFF-3.1 / ENDF / B-VII.0 library differences, and natural Mo pseudo-fission product surrogate.</a:t>
          </a:r>
        </a:p>
      </dsp:txBody>
      <dsp:txXfrm>
        <a:off x="4252662" y="852596"/>
        <a:ext cx="2515235" cy="3682474"/>
      </dsp:txXfrm>
    </dsp:sp>
    <dsp:sp modelId="{6B8027D0-5DBA-4378-BD46-13843D3C22A0}">
      <dsp:nvSpPr>
        <dsp:cNvPr id="0" name=""/>
        <dsp:cNvSpPr/>
      </dsp:nvSpPr>
      <dsp:spPr>
        <a:xfrm>
          <a:off x="3747702" y="186049"/>
          <a:ext cx="1009919" cy="100991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C8FB0-02ED-4539-B21A-C29F77851A0B}">
      <dsp:nvSpPr>
        <dsp:cNvPr id="0" name=""/>
        <dsp:cNvSpPr/>
      </dsp:nvSpPr>
      <dsp:spPr>
        <a:xfrm rot="16200000">
          <a:off x="5841500" y="2441354"/>
          <a:ext cx="3682474" cy="504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45347" bIns="0" numCol="1" spcCol="1270" anchor="t" anchorCtr="0">
          <a:noAutofit/>
        </a:bodyPr>
        <a:lstStyle/>
        <a:p>
          <a:pPr marL="0" lvl="0" indent="0" algn="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Next Steps</a:t>
          </a:r>
        </a:p>
      </dsp:txBody>
      <dsp:txXfrm>
        <a:off x="5841500" y="2441354"/>
        <a:ext cx="3682474" cy="504959"/>
      </dsp:txXfrm>
    </dsp:sp>
    <dsp:sp modelId="{B4DF7739-FA82-4D81-9CC9-6836AA441FC2}">
      <dsp:nvSpPr>
        <dsp:cNvPr id="0" name=""/>
        <dsp:cNvSpPr/>
      </dsp:nvSpPr>
      <dsp:spPr>
        <a:xfrm>
          <a:off x="7935217" y="852596"/>
          <a:ext cx="2515235" cy="3682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445347" rIns="170688" bIns="17068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Full hexagonal lattice; explicit fission product chain; multi-cycle equilibrium analysis; increased particle statistics (≥100,000/step).</a:t>
          </a:r>
        </a:p>
      </dsp:txBody>
      <dsp:txXfrm>
        <a:off x="7935217" y="852596"/>
        <a:ext cx="2515235" cy="3682474"/>
      </dsp:txXfrm>
    </dsp:sp>
    <dsp:sp modelId="{489710EB-1AA5-4726-8C1A-9D5929FF3B0B}">
      <dsp:nvSpPr>
        <dsp:cNvPr id="0" name=""/>
        <dsp:cNvSpPr/>
      </dsp:nvSpPr>
      <dsp:spPr>
        <a:xfrm>
          <a:off x="7430257" y="186049"/>
          <a:ext cx="1009919" cy="100991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92031-DD80-01E4-A07C-C88335D35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E8E4B-82C6-1D10-4963-7AC647C55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1598F-075E-9ED0-E430-93F6C538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D87C7-16D6-676F-9D77-D23FD4AA0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5435-D35C-694B-F306-1F5237E3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9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F46D-5392-391F-0090-BFA190A3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C12E-DB46-A652-3F9C-0E7B5CDF8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2A11D-6B0B-B626-7D13-C0D1F3493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73645-3609-3217-2D5D-316FA9555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57341-00C2-2859-EB37-C26A1779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0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A274-AA00-91A0-7F02-B4EA30CA4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6DC8F-F787-D4C3-1BCE-C692913EC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6D9B0-8533-A294-7180-03B5A47F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A16C-865F-866D-8337-7D095AE1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0647-2C52-2715-E67B-9AEF5AE5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0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5D41-9A35-BB9B-E84E-48B5D897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580B5-0BD4-3DB9-1CBC-B19DB7E44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2DAA8-E53A-D2BC-77C4-7A927AC18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40BB8-18A6-5098-6B56-898CA8B1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1442A-D799-725F-804C-B7680FD69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7D011-F1BA-7DFF-3B9E-73F1FB93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7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10E0-33C3-DE43-C04C-B4B0E1CA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741DB-D53B-A387-C87F-C4CAE02FF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E1DA7-845C-523B-99B7-5D2BFDF98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49936-C9E8-5EB8-93B2-A625B848B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79AB29-B1B2-9341-4A7F-5FF4841EE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669F1-812C-B877-0F78-9E6FCD72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A1AA9-9B1F-0712-BE9B-D405ADE6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56363-D570-AE3B-B99F-05DE5C5E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7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2205-B526-B0E9-1A2A-730A9884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E827A-A801-7D45-47CA-1263FD8E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A185A-2D2B-C841-E38A-46F54BBF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10F4C-9BB5-9A51-C4B5-B5A55568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E4F77-D451-E08F-AACA-70D0B090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60853-F2AC-136F-020F-73CDFBBE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3E14-A0B5-F8F6-4473-C0325DC1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6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D883-53F3-B486-0537-D9AD8B26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A5621-1D2B-0965-CB82-9153ED433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84AF-FA2F-D826-B667-4B06F6B48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D6DEE-79B0-CD32-C8BC-84245F02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0DEA6-B44F-2767-F605-530BD2D9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6978C-08E1-5662-BAD6-31D898E1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1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026F-9598-1BB4-70E0-545950ED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C93BD5-4715-3A21-3E6C-E60584709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9575E-53F4-B5F8-26C5-7260FD178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3F77-6FE4-EB41-8B58-7712E748F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333AB-2D41-0DD8-F95B-1C298E34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FD43F-A739-2230-702A-F11C0674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3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5A87-8A20-6DC8-537F-D1FC64E6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FD04A-1CB6-51FF-59F8-D79C2D100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43FC8-9534-C2E0-B965-BD59042F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2A030-9B68-8644-0C37-1ABB99E77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3B204-221E-198D-0A04-F90A1717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6F7B4-E33A-B44E-DD93-6BB8DC79D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68043-7B8A-58EC-1C5C-EBC472B3D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F26DA-F279-9214-DC69-D04DB295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6CBBC-D514-4BA0-C2A8-0B21D82D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FB006-EA5A-F11B-52E8-4EAC5044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03DBA-96AD-B565-E70C-CF0902A1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5D56E-A3D4-5372-78DD-82A957218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14764-EE6B-5AA5-8712-81FED7BB5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29E72-81D2-F543-98F3-BA19AAC7B76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24E2D-0529-B235-34A9-12BEE41A9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FFA21-9062-7B8E-7A45-CC62CB321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F2A0C-2E1C-2149-8B52-2A8E75D7B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7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F109-5ED9-761C-3B61-C1FA62FDE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5389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en-US" sz="5400" dirty="0" err="1">
                <a:solidFill>
                  <a:srgbClr val="00274C"/>
                </a:solidFill>
                <a:effectLst/>
                <a:latin typeface="Playfair Display Medium" pitchFamily="2" charset="77"/>
              </a:rPr>
              <a:t>OpenMC</a:t>
            </a:r>
            <a:r>
              <a:rPr lang="en-US" sz="5400" dirty="0">
                <a:solidFill>
                  <a:srgbClr val="00274C"/>
                </a:solidFill>
                <a:effectLst/>
                <a:latin typeface="Playfair Display Medium" pitchFamily="2" charset="77"/>
              </a:rPr>
              <a:t> Neutronics Analysis of an ABR-1000 Reactor Core</a:t>
            </a:r>
            <a:endParaRPr lang="en-US" sz="5400" dirty="0">
              <a:latin typeface="Playfair Display Medium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CFEF2-531B-6DCC-3FD2-125624D18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0386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74C"/>
                </a:solidFill>
                <a:effectLst/>
                <a:latin typeface="Playfair Display" pitchFamily="2" charset="77"/>
              </a:rPr>
              <a:t>Cal Kaufman</a:t>
            </a:r>
          </a:p>
          <a:p>
            <a:pPr algn="l"/>
            <a:r>
              <a:rPr lang="en-US" i="1" dirty="0">
                <a:solidFill>
                  <a:srgbClr val="00274C"/>
                </a:solidFill>
                <a:latin typeface="Playfair Display" pitchFamily="2" charset="77"/>
              </a:rPr>
              <a:t>NERS 590 – Advanced Reactor Design</a:t>
            </a:r>
            <a:endParaRPr lang="en-US" i="1" dirty="0">
              <a:solidFill>
                <a:srgbClr val="00274C"/>
              </a:solidFill>
              <a:effectLst/>
              <a:latin typeface="Playfair Display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96DB6-3539-A153-1DDF-540F68E59922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6C4CD1-A61A-6E54-0D87-86EB7CBDACD1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FEF05-C100-1140-9AAC-5A006B7E3E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AC6F7E-3EBB-B08A-67F5-451D7596D581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00A621-0117-2DCA-9320-63B0882D96C6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23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96EB-BC22-D537-327A-131B0775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C8A3B-9B4E-F1B2-ED21-4457929D3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663"/>
            <a:ext cx="10515600" cy="4656711"/>
          </a:xfrm>
        </p:spPr>
        <p:txBody>
          <a:bodyPr>
            <a:normAutofit/>
          </a:bodyPr>
          <a:lstStyle/>
          <a:p>
            <a:r>
              <a:rPr lang="en-US" dirty="0"/>
              <a:t>Introduction to the ABR-1000</a:t>
            </a:r>
          </a:p>
          <a:p>
            <a:r>
              <a:rPr lang="en-US" dirty="0"/>
              <a:t>Core Design Description</a:t>
            </a:r>
          </a:p>
          <a:p>
            <a:r>
              <a:rPr lang="en-US" dirty="0"/>
              <a:t>Approximations</a:t>
            </a:r>
          </a:p>
          <a:p>
            <a:r>
              <a:rPr lang="en-US" dirty="0"/>
              <a:t>Modeling Methodology</a:t>
            </a:r>
          </a:p>
          <a:p>
            <a:r>
              <a:rPr lang="en-US" dirty="0"/>
              <a:t>BOC Performance</a:t>
            </a:r>
          </a:p>
          <a:p>
            <a:r>
              <a:rPr lang="en-US" dirty="0"/>
              <a:t>Depletion Evolution</a:t>
            </a:r>
          </a:p>
          <a:p>
            <a:r>
              <a:rPr lang="en-US" dirty="0"/>
              <a:t>TRU &amp; Actinide Evolution</a:t>
            </a:r>
          </a:p>
          <a:p>
            <a:r>
              <a:rPr lang="en-US" dirty="0"/>
              <a:t>Power Distribution</a:t>
            </a:r>
          </a:p>
          <a:p>
            <a:r>
              <a:rPr lang="en-US" dirty="0"/>
              <a:t>Discussion &amp; 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E39FC-1007-29BF-9E52-0769EBE5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36327"/>
            <a:ext cx="3251548" cy="334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ECCBC0-0603-798F-124A-C32D82C18F5A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AA5EA6-F827-604C-7314-AA5DD97C7FB7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15209A2-C217-B50B-0798-BDF21C28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33"/>
            <a:ext cx="10515600" cy="1325563"/>
          </a:xfrm>
        </p:spPr>
        <p:txBody>
          <a:bodyPr anchor="t" anchorCtr="0"/>
          <a:lstStyle/>
          <a:p>
            <a:r>
              <a:rPr lang="en-US" b="1" dirty="0">
                <a:solidFill>
                  <a:schemeClr val="bg1"/>
                </a:solidFill>
                <a:effectLst/>
                <a:latin typeface="Playfair Display" pitchFamily="2" charset="77"/>
              </a:rPr>
              <a:t>Contents</a:t>
            </a:r>
            <a:endParaRPr lang="en-US" dirty="0">
              <a:solidFill>
                <a:schemeClr val="bg1"/>
              </a:solidFill>
              <a:effectLst/>
              <a:latin typeface="Playfair Displ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6844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2F1FAF1-76BE-C7E6-51C8-09262CB7A5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567167"/>
              </p:ext>
            </p:extLst>
          </p:nvPr>
        </p:nvGraphicFramePr>
        <p:xfrm>
          <a:off x="846404" y="127293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1170179-2039-67FC-FF60-25D819C54D09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F6B1AA-B190-33AC-FE37-0E41AB9C2BA6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29C1DE3-2494-612B-A1BD-FF95ECF0868D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78A917-C328-9A3C-36F2-A23524FDB4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914CF5-33E5-557C-8FE6-CF685ECCC2D6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17FDE2C-0C99-6A23-2C25-3122E0BD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Introduction to the ABR-1000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3803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AF26-B237-0F73-4C9B-B94DF351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7D966-1644-BB7E-8827-4E6E03BE9F79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761E0E-B19B-8636-52DB-91920584D73A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34E9EEA-963A-A608-7EEA-079758DE4CB7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86159-D5D2-1413-D57E-4EC31AC22D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9EDF0C-7C21-423A-EEE5-2A8C7CD90CEB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062D412-336A-CDD8-361D-529A53908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Core Design Description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9B7466-0D0D-46AD-5989-5501E0C7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3786" y="1181583"/>
            <a:ext cx="5248218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379-Assembly Hexagonal Core</a:t>
            </a:r>
          </a:p>
          <a:p>
            <a:r>
              <a:rPr lang="en-US" b="1" dirty="0"/>
              <a:t>78</a:t>
            </a:r>
            <a:r>
              <a:rPr lang="en-US" dirty="0"/>
              <a:t> inner-core + </a:t>
            </a:r>
            <a:r>
              <a:rPr lang="en-US" b="1" dirty="0"/>
              <a:t>102</a:t>
            </a:r>
            <a:r>
              <a:rPr lang="en-US" dirty="0"/>
              <a:t> outer-core driver fuel assemblies</a:t>
            </a:r>
          </a:p>
          <a:p>
            <a:r>
              <a:rPr lang="en-US" b="1" dirty="0"/>
              <a:t>114</a:t>
            </a:r>
            <a:r>
              <a:rPr lang="en-US" dirty="0"/>
              <a:t> radial reflector + </a:t>
            </a:r>
            <a:r>
              <a:rPr lang="en-US" b="1" dirty="0"/>
              <a:t>66</a:t>
            </a:r>
            <a:r>
              <a:rPr lang="en-US" dirty="0"/>
              <a:t> radial shield assemblies</a:t>
            </a:r>
          </a:p>
          <a:p>
            <a:r>
              <a:rPr lang="en-US" b="1" dirty="0"/>
              <a:t>19</a:t>
            </a:r>
            <a:r>
              <a:rPr lang="en-US" dirty="0"/>
              <a:t> control assemblies (15 primary, 4 secondary)</a:t>
            </a:r>
          </a:p>
          <a:p>
            <a:r>
              <a:rPr lang="en-US" dirty="0"/>
              <a:t>Assembly pitch: </a:t>
            </a:r>
            <a:r>
              <a:rPr lang="en-US" b="1" dirty="0"/>
              <a:t>16.142 cm</a:t>
            </a:r>
            <a:r>
              <a:rPr lang="en-US" dirty="0"/>
              <a:t>; 271 pins per assembly</a:t>
            </a:r>
          </a:p>
          <a:p>
            <a:r>
              <a:rPr lang="en-US" dirty="0"/>
              <a:t>Fuel: U-TRU-10wt%Zr metallic alloy, HT9 cladding</a:t>
            </a:r>
          </a:p>
          <a:p>
            <a:r>
              <a:rPr lang="en-US" dirty="0"/>
              <a:t>Active core height: </a:t>
            </a:r>
            <a:r>
              <a:rPr lang="en-US" b="1" dirty="0"/>
              <a:t>85.82 cm</a:t>
            </a:r>
            <a:r>
              <a:rPr lang="en-US" dirty="0"/>
              <a:t>; fuel volume fraction: </a:t>
            </a:r>
            <a:r>
              <a:rPr lang="en-US" b="1" dirty="0"/>
              <a:t>39%</a:t>
            </a:r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EDDBF2-9A1C-8D97-39DC-4F1578DC7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09551"/>
            <a:ext cx="5248218" cy="403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4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C54F2-C885-9AA8-A078-B706D7343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A81230-4DBC-05E0-8A1F-56448B72820A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26739C-DA30-CAAC-D981-D7FA8D0779BA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01F8471-26B0-D834-3752-032A602C2757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47591-DA89-D880-7236-211D8ABBC5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80D376-11C8-051A-00F0-E1FCC4A8ECC7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6DC539-59EF-98BE-95E3-2809780B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Approximations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052F2E1-4102-0B8F-5127-00633A9D5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680" y="1181583"/>
            <a:ext cx="74453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Cylindrical Homogenization: 4 annular regions of equivalent area</a:t>
            </a:r>
          </a:p>
          <a:p>
            <a:pPr marL="0" indent="0">
              <a:buNone/>
            </a:pPr>
            <a:r>
              <a:rPr lang="en-US" dirty="0"/>
              <a:t>The hexagonal core is collapsed into concentric annuli of equivalent area. Radial boundaries: R</a:t>
            </a:r>
            <a:r>
              <a:rPr lang="en-US" baseline="-25000" dirty="0"/>
              <a:t>inner</a:t>
            </a:r>
            <a:r>
              <a:rPr lang="en-US" dirty="0"/>
              <a:t> = 78.14 cm, R</a:t>
            </a:r>
            <a:r>
              <a:rPr lang="en-US" baseline="-25000" dirty="0"/>
              <a:t>outer</a:t>
            </a:r>
            <a:r>
              <a:rPr lang="en-US" dirty="0"/>
              <a:t> = 119.56 cm, </a:t>
            </a:r>
            <a:r>
              <a:rPr lang="en-US" dirty="0" err="1"/>
              <a:t>R</a:t>
            </a:r>
            <a:r>
              <a:rPr lang="en-US" baseline="-25000" dirty="0" err="1"/>
              <a:t>refl</a:t>
            </a:r>
            <a:r>
              <a:rPr lang="en-US" dirty="0"/>
              <a:t> = 149.94 cm, </a:t>
            </a:r>
            <a:r>
              <a:rPr lang="en-US" dirty="0" err="1"/>
              <a:t>R</a:t>
            </a:r>
            <a:r>
              <a:rPr lang="en-US" baseline="-25000" dirty="0" err="1"/>
              <a:t>shield</a:t>
            </a:r>
            <a:r>
              <a:rPr lang="en-US" dirty="0"/>
              <a:t> = 164.99 cm. Vacuum boundary conditions applied on all outer surfaces. Five axial composition zones represent the burnup-dependent gradient at BOEC.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DE3CEA-E79E-754E-57CF-C06758C25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46" y="1013237"/>
            <a:ext cx="3462802" cy="462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5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A61E-7D19-18A0-8909-E48A8948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2553F6-5F24-B4E1-BEC5-C682CD65187E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3A7DE7-763D-A48D-E7E3-FD3AC0BC4BA8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0BB49A3-711A-51E8-1FB3-719495B31CD7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E6BE00-BF1B-B7AD-D5E3-DF6EE937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69112E-0D93-1371-4ABF-01A3FBD1E596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76E250B-BFCB-2075-8766-4F99F757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Modeling Methodology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4CD0735-13D9-AD6C-D1E3-E7A8EAD79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232490"/>
              </p:ext>
            </p:extLst>
          </p:nvPr>
        </p:nvGraphicFramePr>
        <p:xfrm>
          <a:off x="838200" y="127293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957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63C2-F576-608F-5D47-14FDC1D82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957D56-EFCA-F13B-4C54-3B8A622A867F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4B7576-C48B-BBFA-8676-2DFA0E18AD76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56EE9F5-5469-C06B-B257-AA2F423D02FB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080AE-45D2-1E31-D0F8-BA18FB5A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8EAC8B-48F7-0268-4151-30960B3CB88D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46962D2-3E7B-D844-026E-E6CA75D6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Beginning of Cycle Performance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DDA8F07-9154-CC22-DD04-C43A6094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396" y="1156281"/>
            <a:ext cx="680524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BOC </a:t>
            </a:r>
            <a:r>
              <a:rPr lang="en-US" dirty="0" err="1"/>
              <a:t>k</a:t>
            </a:r>
            <a:r>
              <a:rPr lang="en-US" baseline="-25000" dirty="0" err="1"/>
              <a:t>eff</a:t>
            </a:r>
            <a:r>
              <a:rPr lang="en-US" dirty="0"/>
              <a:t> = </a:t>
            </a:r>
            <a:r>
              <a:rPr lang="en-US" b="1" dirty="0"/>
              <a:t>1.04916 ± 0.00070</a:t>
            </a:r>
          </a:p>
          <a:p>
            <a:pPr marL="0" indent="0">
              <a:buNone/>
            </a:pPr>
            <a:r>
              <a:rPr lang="en-US" dirty="0"/>
              <a:t>Benchmark mean: </a:t>
            </a:r>
            <a:r>
              <a:rPr lang="en-US" b="1" dirty="0"/>
              <a:t>1.0355 ± 0.0078</a:t>
            </a:r>
            <a:r>
              <a:rPr lang="en-US" dirty="0"/>
              <a:t>; deviation of ~1258 </a:t>
            </a:r>
            <a:r>
              <a:rPr lang="en-US" dirty="0" err="1"/>
              <a:t>pcm</a:t>
            </a:r>
            <a:r>
              <a:rPr lang="en-US" dirty="0"/>
              <a:t>, well within the known spread attributable to library differences and geometric modeling.</a:t>
            </a:r>
          </a:p>
          <a:p>
            <a:pPr marL="0" indent="0">
              <a:buNone/>
            </a:pPr>
            <a:r>
              <a:rPr lang="en-US" i="1" dirty="0"/>
              <a:t>Competing biases: cylindrical homogenization increases leakage (negative bias), while ENDF/B-VIII.0 and no explicit fission products introduce positive bias.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E70BC6-04D3-AE46-57F6-F890628AD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85" y="1723811"/>
            <a:ext cx="465709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1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7DFEE-055D-D20E-4125-D13D98D1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1508B7-6014-DF74-DEFD-94F002E01CD3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A82B1D-7277-4DC2-46A4-506E8B94512F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BFA646D-F2A2-7E91-423F-BA057466CE39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0BDA4-8F15-0BC8-6838-6B1168D0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C26EB1-B558-C104-A698-4332123F2C7D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A7771D7-773E-99CB-B081-8044FBD3C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K</a:t>
            </a:r>
            <a:r>
              <a:rPr lang="en-US" baseline="-25000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eff</a:t>
            </a:r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 Evolution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2A8EE2-26D8-6B0C-43EA-AEA44B1C2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7560" y="1234549"/>
            <a:ext cx="462123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Reactivity Swing: </a:t>
            </a:r>
          </a:p>
          <a:p>
            <a:pPr marL="0" indent="0">
              <a:buNone/>
            </a:pPr>
            <a:r>
              <a:rPr lang="el-GR" dirty="0"/>
              <a:t>Δρ</a:t>
            </a:r>
            <a:r>
              <a:rPr lang="en-US" baseline="-25000" dirty="0"/>
              <a:t>cycle</a:t>
            </a:r>
            <a:r>
              <a:rPr lang="en-US" dirty="0"/>
              <a:t> = </a:t>
            </a:r>
            <a:r>
              <a:rPr lang="en-US" b="1" dirty="0"/>
              <a:t>−2415 </a:t>
            </a:r>
            <a:r>
              <a:rPr lang="en-US" b="1" dirty="0" err="1"/>
              <a:t>pcm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Benchmark: −2210 ± 422 </a:t>
            </a:r>
            <a:r>
              <a:rPr lang="en-US" dirty="0" err="1"/>
              <a:t>pcm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Monotonic decrease driven by </a:t>
            </a:r>
            <a:r>
              <a:rPr lang="en-US" baseline="30000" dirty="0"/>
              <a:t>239</a:t>
            </a:r>
            <a:r>
              <a:rPr lang="en-US" dirty="0"/>
              <a:t>Pu and </a:t>
            </a:r>
            <a:r>
              <a:rPr lang="en-US" baseline="30000" dirty="0"/>
              <a:t>241</a:t>
            </a:r>
            <a:r>
              <a:rPr lang="en-US" dirty="0"/>
              <a:t>Pu depletion and accumulation of higher actinide absorbers (</a:t>
            </a:r>
            <a:r>
              <a:rPr lang="en-US" baseline="30000" dirty="0"/>
              <a:t>240</a:t>
            </a:r>
            <a:r>
              <a:rPr lang="en-US" dirty="0"/>
              <a:t>Pu, </a:t>
            </a:r>
            <a:r>
              <a:rPr lang="en-US" baseline="30000" dirty="0"/>
              <a:t>244</a:t>
            </a:r>
            <a:r>
              <a:rPr lang="en-US" dirty="0"/>
              <a:t>Cm).</a:t>
            </a:r>
          </a:p>
          <a:p>
            <a:pPr marL="0" indent="0">
              <a:buNone/>
            </a:pPr>
            <a:r>
              <a:rPr lang="en-US" dirty="0"/>
              <a:t>EOC </a:t>
            </a:r>
            <a:r>
              <a:rPr lang="en-US" dirty="0" err="1"/>
              <a:t>k</a:t>
            </a:r>
            <a:r>
              <a:rPr lang="en-US" baseline="-25000" dirty="0" err="1"/>
              <a:t>eff</a:t>
            </a:r>
            <a:r>
              <a:rPr lang="en-US" dirty="0"/>
              <a:t>= </a:t>
            </a:r>
            <a:r>
              <a:rPr lang="en-US" b="1" dirty="0"/>
              <a:t>1.02309 ± 0.00066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2298CC-48B6-11F3-54C9-E4726A356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75164"/>
            <a:ext cx="6172200" cy="437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14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1F65-49F5-1278-9FF5-E6FB153E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185841-F9D1-ED60-6424-6B8917A4A4C3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AD5ACF-697D-8331-4B11-978A77553A8D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043004-5BD2-4BA5-F84B-5CE3CE9E09D5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AF44B-9164-BF9A-C4FC-6B62701C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8B27B8-CE5F-47B3-F50F-080C216C5E90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99F92D-E745-399E-241A-B157D20E4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TRU Evolution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757DFD8-F816-32E6-C9F8-3E3A088A8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0659570"/>
              </p:ext>
            </p:extLst>
          </p:nvPr>
        </p:nvGraphicFramePr>
        <p:xfrm>
          <a:off x="6392598" y="1144658"/>
          <a:ext cx="5281242" cy="4362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C5D08AC-41F9-3341-20A9-7753BE2315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13" y="1328116"/>
            <a:ext cx="5589587" cy="413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92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1251-0580-5D14-8C75-EAFF9AC3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740327-3DE8-38E7-0DB8-70CB9693627B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789A18-2EC9-86EC-B3EF-C8E590EBB96A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0A84A04-2067-26E5-1D3F-7866AFDE52B4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1B5ED2-1A0F-17F7-BAA5-19A94996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E2D7EB-BB90-3111-42AF-33AC99337AB8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4DF8432-BA46-E33E-297E-62BFB346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Actinide Evolution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00AFB34-71FD-89EE-0D1B-127D9EF73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0" y="1156281"/>
            <a:ext cx="50069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depletion of </a:t>
            </a:r>
            <a:r>
              <a:rPr lang="en-US" baseline="30000" dirty="0"/>
              <a:t>239</a:t>
            </a:r>
            <a:r>
              <a:rPr lang="en-US" dirty="0"/>
              <a:t>Pu is dominant transmutation pathway. </a:t>
            </a:r>
          </a:p>
          <a:p>
            <a:pPr marL="0" indent="0">
              <a:buNone/>
            </a:pPr>
            <a:r>
              <a:rPr lang="en-US" dirty="0"/>
              <a:t>Increases in higher actinide masses, particularly </a:t>
            </a:r>
            <a:r>
              <a:rPr lang="en-US" baseline="30000" dirty="0"/>
              <a:t>240</a:t>
            </a:r>
            <a:r>
              <a:rPr lang="en-US" dirty="0"/>
              <a:t>Pu, </a:t>
            </a:r>
            <a:r>
              <a:rPr lang="en-US" baseline="30000" dirty="0"/>
              <a:t>244</a:t>
            </a:r>
            <a:r>
              <a:rPr lang="en-US" dirty="0"/>
              <a:t>Cm, reflect fast neutron capture chains. </a:t>
            </a:r>
          </a:p>
          <a:p>
            <a:pPr marL="0" indent="0">
              <a:buNone/>
            </a:pPr>
            <a:r>
              <a:rPr lang="en-US" dirty="0"/>
              <a:t>Fission exceeds 238U capture production, enabling sustained actinide burning, with a TRU conversion ratio of ~ 0.7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C92B43-0D34-73A1-9F0E-38E2F9796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02" y="1181583"/>
            <a:ext cx="6138970" cy="428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99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62CC-9352-60BE-501A-63E07150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1E6A48-C4B1-6A5C-C9E0-6BD9FAE25638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331958-7F0E-0BD6-8BF5-4BD4AB5BE825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935DA0C-4C8F-B826-E8C5-8EAD7ADE2BC7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C26116-ADF9-D5C3-C41C-4F4A2726C9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D98283-423D-B3E7-ABC1-19581DB6AE5C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8CD9E9D-3F70-7D5D-6E17-D819EBA7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Power Distribution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19690D7-6DF2-06FA-41CF-3E45F30A9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181583"/>
            <a:ext cx="4504004" cy="4351338"/>
          </a:xfrm>
        </p:spPr>
        <p:txBody>
          <a:bodyPr>
            <a:normAutofit/>
          </a:bodyPr>
          <a:lstStyle/>
          <a:p>
            <a:r>
              <a:rPr lang="en-US" dirty="0"/>
              <a:t>Outer core exhibits higher local power density due to higher TRU enrichment</a:t>
            </a:r>
          </a:p>
          <a:p>
            <a:r>
              <a:rPr lang="en-US" dirty="0"/>
              <a:t>Axially, the power distribution peaks near the core midplane </a:t>
            </a:r>
          </a:p>
          <a:p>
            <a:r>
              <a:rPr lang="en-US" dirty="0"/>
              <a:t>Inner Core Power: 48.08%</a:t>
            </a:r>
          </a:p>
          <a:p>
            <a:r>
              <a:rPr lang="en-US" dirty="0"/>
              <a:t>Outer Core Power: 51.92%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A1433C-CED9-0B3A-DDD8-90B0978F9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13093"/>
            <a:ext cx="6261653" cy="395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42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E822-A575-2F5F-35F5-218A5E60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ACB6DF-A0CD-9BEA-8632-18F18A016FC6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8AD9DE-F5CE-52BE-D95E-6005EF7B9765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2FEAA47-81F2-D470-3E36-137FF15A7B35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4FC399-1ECC-9591-0562-443EEC9C0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F274AE-7571-5329-3F92-333564156F15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C63C46C-58CD-0681-BB2F-27B7722F3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Neutron Spectrum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41F2D28-8F20-B0C8-3D09-E29163E2D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181583"/>
            <a:ext cx="4504004" cy="4351338"/>
          </a:xfrm>
        </p:spPr>
        <p:txBody>
          <a:bodyPr>
            <a:normAutofit/>
          </a:bodyPr>
          <a:lstStyle/>
          <a:p>
            <a:r>
              <a:rPr lang="en-US" dirty="0"/>
              <a:t>Fast flux fraction (&gt;0.1 MeV): </a:t>
            </a:r>
            <a:r>
              <a:rPr lang="en-US" b="1" dirty="0"/>
              <a:t>0.645</a:t>
            </a:r>
            <a:r>
              <a:rPr lang="en-US" dirty="0"/>
              <a:t> (ANL ref: 0.68)</a:t>
            </a:r>
          </a:p>
          <a:p>
            <a:r>
              <a:rPr lang="en-US" dirty="0"/>
              <a:t>System leakage: </a:t>
            </a:r>
            <a:r>
              <a:rPr lang="en-US" b="1" dirty="0"/>
              <a:t>L ≈ 1.13%</a:t>
            </a:r>
          </a:p>
          <a:p>
            <a:r>
              <a:rPr lang="en-US" dirty="0"/>
              <a:t>(n,2n) on </a:t>
            </a:r>
            <a:r>
              <a:rPr lang="en-US" baseline="30000" dirty="0"/>
              <a:t>238</a:t>
            </a:r>
            <a:r>
              <a:rPr lang="en-US" dirty="0"/>
              <a:t>U contributes </a:t>
            </a:r>
            <a:r>
              <a:rPr lang="en-US" b="1" dirty="0"/>
              <a:t>0.19%</a:t>
            </a:r>
            <a:r>
              <a:rPr lang="en-US" dirty="0"/>
              <a:t> of total neutron production </a:t>
            </a:r>
          </a:p>
          <a:p>
            <a:r>
              <a:rPr lang="en-US" dirty="0"/>
              <a:t>Characteristic of fast-spectrum systems.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C73BD2-6941-9879-76FB-8D3A3DE07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7" y="1175163"/>
            <a:ext cx="6472040" cy="41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66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521D-1A8E-3A55-47FB-2A0A0A5B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054303-8DB8-12D7-8BF3-58E7DF167AA8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4FA64E-2403-AFD4-79A6-18F352529138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A4537DE-7FEB-BCA4-51AA-DBE9763C8895}"/>
              </a:ext>
            </a:extLst>
          </p:cNvPr>
          <p:cNvSpPr/>
          <p:nvPr/>
        </p:nvSpPr>
        <p:spPr>
          <a:xfrm>
            <a:off x="0" y="5660571"/>
            <a:ext cx="12192000" cy="1197429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734535-803A-474B-5864-15CC47FC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93477"/>
            <a:ext cx="3251548" cy="3348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76AFAB-82E1-EE7B-02EE-010A34C0C75B}"/>
              </a:ext>
            </a:extLst>
          </p:cNvPr>
          <p:cNvCxnSpPr/>
          <p:nvPr/>
        </p:nvCxnSpPr>
        <p:spPr>
          <a:xfrm>
            <a:off x="-70834" y="5804812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50F0890-79EC-D489-74BB-1735C845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6" y="140482"/>
            <a:ext cx="10515600" cy="1325563"/>
          </a:xfrm>
        </p:spPr>
        <p:txBody>
          <a:bodyPr anchor="t" anchorCtr="0"/>
          <a:lstStyle/>
          <a:p>
            <a:r>
              <a:rPr lang="en-US" dirty="0">
                <a:solidFill>
                  <a:schemeClr val="bg1"/>
                </a:solidFill>
                <a:effectLst/>
                <a:latin typeface="Playfair Display Medium" pitchFamily="2" charset="77"/>
              </a:rPr>
              <a:t>Discussion &amp; Conclusions</a:t>
            </a:r>
            <a:endParaRPr lang="en-US" dirty="0">
              <a:solidFill>
                <a:schemeClr val="bg1"/>
              </a:solidFill>
              <a:latin typeface="Playfair Display Medium" pitchFamily="2" charset="77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4148E8D-0A8D-AD60-A19C-5D9ABFF317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534268"/>
              </p:ext>
            </p:extLst>
          </p:nvPr>
        </p:nvGraphicFramePr>
        <p:xfrm>
          <a:off x="838200" y="786499"/>
          <a:ext cx="10515600" cy="4721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56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A7A33-FB7F-C95B-7E63-F2FFEADB2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643"/>
            <a:ext cx="10515600" cy="491168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C. Grandy et al. Advanced Burner Reactor 1000 </a:t>
            </a:r>
            <a:r>
              <a:rPr lang="en-US" dirty="0" err="1"/>
              <a:t>MWth</a:t>
            </a:r>
            <a:r>
              <a:rPr lang="en-US" dirty="0"/>
              <a:t> reference concept. Technical Report ANL-AFCI-202, Argonne National Laboratory, September 2007. Prepared for the U.S. Department of Energy under Contract No. DE-AC02-06-CH11357.</a:t>
            </a:r>
          </a:p>
          <a:p>
            <a:r>
              <a:rPr lang="en-US" dirty="0"/>
              <a:t>T. K. Kim et al. Numerical benchmark results for 1000 </a:t>
            </a:r>
            <a:r>
              <a:rPr lang="en-US" dirty="0" err="1"/>
              <a:t>MWth</a:t>
            </a:r>
            <a:r>
              <a:rPr lang="en-US" dirty="0"/>
              <a:t> sodium-cooled fast reactor. In Second Meeting of the SFR Benchmark Task Force of the Working Party on Scientific Issues of Reactor Systems (WPRS), OECD/NEA, Paris, France, February 2012</a:t>
            </a:r>
          </a:p>
          <a:p>
            <a:r>
              <a:rPr lang="en-US" dirty="0"/>
              <a:t>Md. </a:t>
            </a:r>
            <a:r>
              <a:rPr lang="en-US" dirty="0" err="1"/>
              <a:t>Hasebul</a:t>
            </a:r>
            <a:r>
              <a:rPr lang="en-US" dirty="0"/>
              <a:t> Hasan Niloy et al. Neutronic analysis of ABR-1000 sodium cooled fast reactor with radially and axially heterogeneous core configurations. Annals of Nuclear Energy, 193:110022, 2023.</a:t>
            </a:r>
          </a:p>
          <a:p>
            <a:r>
              <a:rPr lang="en-US" dirty="0"/>
              <a:t>Paul K. Romano et al. </a:t>
            </a:r>
            <a:r>
              <a:rPr lang="en-US" dirty="0" err="1"/>
              <a:t>OpenMC</a:t>
            </a:r>
            <a:r>
              <a:rPr lang="en-US" dirty="0"/>
              <a:t>: A state-of-the-art Monte Carlo code for research and development. Annals of Nuclear Energy, 82:90–97, 2015.</a:t>
            </a:r>
          </a:p>
          <a:p>
            <a:r>
              <a:rPr lang="en-US" dirty="0"/>
              <a:t>N. E. Stauff et al. Benchmark for neutronic analysis of sodium-cooled fast reactor cores with various fuel types and core sizes. Technical Report NEA/NSC/R(2015)9,OECD Nuclear Energy Agency, February 2016.</a:t>
            </a:r>
          </a:p>
          <a:p>
            <a:r>
              <a:rPr lang="en-US" dirty="0"/>
              <a:t>Nicolas Stauff et al. Argonne neutronic assessment of ABR-1000.Technical Report CRADA 2021-21076, Argonne National Laboratory, May 2022.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B0D1D-C83A-5AA6-E8C8-24B31AFED4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00" y="6136327"/>
            <a:ext cx="3251548" cy="334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3FC2CE-9C67-EFE0-7012-EC094EEF263F}"/>
              </a:ext>
            </a:extLst>
          </p:cNvPr>
          <p:cNvSpPr/>
          <p:nvPr/>
        </p:nvSpPr>
        <p:spPr>
          <a:xfrm>
            <a:off x="0" y="0"/>
            <a:ext cx="12192000" cy="939452"/>
          </a:xfrm>
          <a:prstGeom prst="rect">
            <a:avLst/>
          </a:prstGeom>
          <a:solidFill>
            <a:srgbClr val="0D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591818-EF6C-3775-3709-ADF404A3C0B4}"/>
              </a:ext>
            </a:extLst>
          </p:cNvPr>
          <p:cNvCxnSpPr/>
          <p:nvPr/>
        </p:nvCxnSpPr>
        <p:spPr>
          <a:xfrm>
            <a:off x="-59944" y="786499"/>
            <a:ext cx="12317260" cy="0"/>
          </a:xfrm>
          <a:prstGeom prst="line">
            <a:avLst/>
          </a:prstGeom>
          <a:ln w="3175">
            <a:solidFill>
              <a:srgbClr val="FFCD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8060CC7-A1D7-662E-EE59-344FAAC2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33"/>
            <a:ext cx="10515600" cy="1325563"/>
          </a:xfrm>
        </p:spPr>
        <p:txBody>
          <a:bodyPr anchor="t" anchorCtr="0"/>
          <a:lstStyle/>
          <a:p>
            <a:r>
              <a:rPr lang="en-US" b="1" dirty="0">
                <a:solidFill>
                  <a:schemeClr val="bg1"/>
                </a:solidFill>
                <a:effectLst/>
                <a:latin typeface="Playfair Display" pitchFamily="2" charset="77"/>
              </a:rPr>
              <a:t>References</a:t>
            </a:r>
            <a:endParaRPr lang="en-US" dirty="0">
              <a:solidFill>
                <a:schemeClr val="bg1"/>
              </a:solidFill>
              <a:effectLst/>
              <a:latin typeface="Playfair Displ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52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908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Playfair Display</vt:lpstr>
      <vt:lpstr>Playfair Display Medium</vt:lpstr>
      <vt:lpstr>Office Theme</vt:lpstr>
      <vt:lpstr>OpenMC Neutronics Analysis of an ABR-1000 Reactor Core</vt:lpstr>
      <vt:lpstr>Contents</vt:lpstr>
      <vt:lpstr>Introduction to the ABR-1000</vt:lpstr>
      <vt:lpstr>Core Design Description</vt:lpstr>
      <vt:lpstr>Approximations</vt:lpstr>
      <vt:lpstr>Modeling Methodology</vt:lpstr>
      <vt:lpstr>Beginning of Cycle Performance</vt:lpstr>
      <vt:lpstr>Keff Evolution</vt:lpstr>
      <vt:lpstr>TRU Evolution</vt:lpstr>
      <vt:lpstr>Actinide Evolution</vt:lpstr>
      <vt:lpstr>Power Distribution</vt:lpstr>
      <vt:lpstr>Neutron Spectrum</vt:lpstr>
      <vt:lpstr>Discussion &amp; 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Jennifer</dc:creator>
  <cp:lastModifiedBy>Kaufman, Cal</cp:lastModifiedBy>
  <cp:revision>6</cp:revision>
  <dcterms:created xsi:type="dcterms:W3CDTF">2024-06-25T13:35:56Z</dcterms:created>
  <dcterms:modified xsi:type="dcterms:W3CDTF">2026-04-17T21:40:25Z</dcterms:modified>
</cp:coreProperties>
</file>